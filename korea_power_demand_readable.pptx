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02B3ED2-D847-C2EE-10DA-29FD94320BD8}">
          <p14:sldIdLst>
            <p14:sldId id="256"/>
          </p14:sldIdLst>
        </p14:section>
        <p14:section name="STEP" id="{35006BD1-4904-6EBF-222D-E04A6061E589}">
          <p14:sldIdLst>
            <p14:sldId id="257"/>
            <p14:sldId id="258"/>
            <p14:sldId id="259"/>
          </p14:sldIdLst>
        </p14:section>
        <p14:section name="RESULT" id="{6257F40A-455A-6FE8-8A97-DF7665F044F8}">
          <p14:sldIdLst>
            <p14:sldId id="260"/>
            <p14:sldId id="261"/>
            <p14:sldId id="262"/>
            <p14:sldId id="263"/>
          </p14:sldIdLst>
        </p14:section>
        <p14:section name="AI 활용 · 결론" id="{62740D89-0552-F940-D630-6DEF15EE6FC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62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40080" y="822960"/>
            <a:ext cx="420624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초보자를 위한 데이터 입문서 💡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5544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</a:rPr>
              <a:t>대한민국 전력수요 데이터로 배우는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</a:rPr>
              <a:t>쉬운 데이터 분석과 인사이트</a:t>
            </a:r>
            <a:endParaRPr lang="en-US" sz="4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291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11년(2015~2025) 전력 데이터를 통해 </a:t>
            </a:r>
            <a:r>
              <a:rPr lang="en-US" sz="2000" b="1" dirty="0">
                <a:solidFill>
                  <a:schemeClr val="accent6"/>
                </a:solidFill>
              </a:rPr>
              <a:t>'숫자 뒤에 숨겨진 의미'</a:t>
            </a:r>
            <a:r>
              <a:rPr lang="en-US" sz="2000" dirty="0">
                <a:solidFill>
                  <a:schemeClr val="bg2"/>
                </a:solidFill>
              </a:rPr>
              <a:t>를 찾는 방법을 하나씩 알아봅니다.</a:t>
            </a:r>
            <a:endParaRPr lang="en-US" sz="2000" dirty="0"/>
          </a:p>
        </p:txBody>
      </p:sp>
      <p:sp>
        <p:nvSpPr>
          <p:cNvPr id="5" name="Card 1"/>
          <p:cNvSpPr/>
          <p:nvPr/>
        </p:nvSpPr>
        <p:spPr>
          <a:xfrm>
            <a:off x="64008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ard text 1"/>
          <p:cNvSpPr txBox="1"/>
          <p:nvPr/>
        </p:nvSpPr>
        <p:spPr>
          <a:xfrm>
            <a:off x="914400" y="4599432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accent6"/>
                </a:solidFill>
              </a:rPr>
              <a:t>🎯 핵심 목표</a:t>
            </a:r>
            <a:endParaRPr lang="en-US" sz="21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그래프 그리기를 넘어</a:t>
            </a:r>
            <a:endParaRPr lang="en-US" sz="21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'의미'를 찾는 데이터 사고력 형성</a:t>
            </a:r>
            <a:endParaRPr lang="en-US" sz="2100" dirty="0"/>
          </a:p>
        </p:txBody>
      </p:sp>
      <p:sp>
        <p:nvSpPr>
          <p:cNvPr id="7" name="Card 2"/>
          <p:cNvSpPr/>
          <p:nvPr/>
        </p:nvSpPr>
        <p:spPr>
          <a:xfrm>
            <a:off x="434340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ard text 2"/>
          <p:cNvSpPr txBox="1"/>
          <p:nvPr/>
        </p:nvSpPr>
        <p:spPr>
          <a:xfrm>
            <a:off x="4617720" y="4599432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accent6"/>
                </a:solidFill>
              </a:rPr>
              <a:t>📊 분석 대상</a:t>
            </a:r>
            <a:endParaRPr lang="en-US" sz="21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한국전력거래소 11년간(4,018일)</a:t>
            </a:r>
            <a:endParaRPr lang="en-US" sz="21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전국 전력수요량</a:t>
            </a:r>
            <a:endParaRPr lang="en-US" sz="2100" dirty="0"/>
          </a:p>
        </p:txBody>
      </p:sp>
      <p:sp>
        <p:nvSpPr>
          <p:cNvPr id="9" name="Card 3"/>
          <p:cNvSpPr/>
          <p:nvPr/>
        </p:nvSpPr>
        <p:spPr>
          <a:xfrm>
            <a:off x="804672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Card text 3"/>
          <p:cNvSpPr txBox="1"/>
          <p:nvPr/>
        </p:nvSpPr>
        <p:spPr>
          <a:xfrm>
            <a:off x="8321040" y="4599432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accent6"/>
                </a:solidFill>
              </a:rPr>
              <a:t>🔍 핵심 접근</a:t>
            </a:r>
            <a:endParaRPr lang="en-US" sz="21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관찰된 사실(Fact)과</a:t>
            </a:r>
            <a:endParaRPr lang="en-US" sz="21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예측/해석(Hypothesis)의 엄격한 구분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2798064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STEP 1. 기초 개념 잡기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분석을 시작하기 전 알아야 할 4가지 핵심 개념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691640"/>
            <a:ext cx="552434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Card text 1"/>
          <p:cNvSpPr txBox="1"/>
          <p:nvPr/>
        </p:nvSpPr>
        <p:spPr>
          <a:xfrm>
            <a:off x="731520" y="1920240"/>
            <a:ext cx="49757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 시계열 데이터 (Time-Series)</a:t>
            </a:r>
            <a:endParaRPr lang="en-US" sz="240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📌 시간 흐름에 따라 순서대로 기록된 데이터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chemeClr val="tx2"/>
                </a:solidFill>
              </a:rPr>
              <a:t>날짜별 전력수요, 일별 주가, 시간별 기온처럼 '시간 순서'가 핵심이 되는 데이터입니다.</a:t>
            </a:r>
            <a:endParaRPr lang="en-US" sz="2000" dirty="0"/>
          </a:p>
        </p:txBody>
      </p:sp>
      <p:sp>
        <p:nvSpPr>
          <p:cNvPr id="6" name="Card 2"/>
          <p:cNvSpPr/>
          <p:nvPr/>
        </p:nvSpPr>
        <p:spPr>
          <a:xfrm>
            <a:off x="6210148" y="1691640"/>
            <a:ext cx="552434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Card text 2"/>
          <p:cNvSpPr txBox="1"/>
          <p:nvPr/>
        </p:nvSpPr>
        <p:spPr>
          <a:xfrm>
            <a:off x="6484468" y="1920240"/>
            <a:ext cx="49757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</a:rPr>
              <a:t>2. 데이터 집계 (Aggregation)</a:t>
            </a:r>
            <a:endParaRPr lang="en-US" sz="240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📌 작은 단위 데이터를 큰 단위로 묶는 계산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chemeClr val="tx2"/>
                </a:solidFill>
              </a:rPr>
              <a:t>시간별 24개 전력량을 더해 '일별 총수요'를 만들고, 이를 다시 '월별·연별'로 합치는 과정입니다.</a:t>
            </a:r>
            <a:endParaRPr lang="en-US" sz="2000" dirty="0"/>
          </a:p>
        </p:txBody>
      </p:sp>
      <p:sp>
        <p:nvSpPr>
          <p:cNvPr id="8" name="Card 3"/>
          <p:cNvSpPr/>
          <p:nvPr/>
        </p:nvSpPr>
        <p:spPr>
          <a:xfrm>
            <a:off x="457200" y="4160520"/>
            <a:ext cx="552434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Card text 3"/>
          <p:cNvSpPr txBox="1"/>
          <p:nvPr/>
        </p:nvSpPr>
        <p:spPr>
          <a:xfrm>
            <a:off x="731520" y="4389120"/>
            <a:ext cx="49757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3. 단위 변환 (Unit Conversion)</a:t>
            </a:r>
            <a:endParaRPr lang="en-US" sz="240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📌 복잡한 숫자를 알기 쉽게 바꾸기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chemeClr val="tx2"/>
                </a:solidFill>
              </a:rPr>
              <a:t>원본 단위인 MWh를 보고서용 GWh(1 GWh = 1,000 MWh)로 바꾸어 수치 가독성을 높입니다.</a:t>
            </a:r>
            <a:endParaRPr lang="en-US" sz="2000" dirty="0"/>
          </a:p>
        </p:txBody>
      </p:sp>
      <p:sp>
        <p:nvSpPr>
          <p:cNvPr id="10" name="Card 4"/>
          <p:cNvSpPr/>
          <p:nvPr/>
        </p:nvSpPr>
        <p:spPr>
          <a:xfrm>
            <a:off x="6210148" y="4160520"/>
            <a:ext cx="5524348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1" name="Card text 4"/>
          <p:cNvSpPr txBox="1"/>
          <p:nvPr/>
        </p:nvSpPr>
        <p:spPr>
          <a:xfrm>
            <a:off x="6484468" y="4389120"/>
            <a:ext cx="52500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4"/>
                </a:solidFill>
              </a:rPr>
              <a:t>4. Fact vs Hypothesis</a:t>
            </a:r>
            <a:endParaRPr lang="en-US" sz="240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증명된 사실과 가능한 가설 구분하기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</a:rPr>
              <a:t>Fact:</a:t>
            </a:r>
            <a:r>
              <a:rPr lang="en-US" sz="1500" dirty="0">
                <a:solidFill>
                  <a:schemeClr val="tx2"/>
                </a:solidFill>
              </a:rPr>
              <a:t> '2022년 전력사용량이 </a:t>
            </a:r>
            <a:r>
              <a:rPr lang="en-US" sz="1500" dirty="0" err="1">
                <a:solidFill>
                  <a:schemeClr val="tx2"/>
                </a:solidFill>
              </a:rPr>
              <a:t>최고였다</a:t>
            </a:r>
            <a:r>
              <a:rPr lang="en-US" sz="1500" dirty="0">
                <a:solidFill>
                  <a:schemeClr val="tx2"/>
                </a:solidFill>
              </a:rPr>
              <a:t>.’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>
                    <a:lumMod val="50000"/>
                  </a:schemeClr>
                </a:solidFill>
              </a:rPr>
              <a:t>Hypothesis:</a:t>
            </a:r>
            <a:r>
              <a:rPr lang="en-US" sz="1500" dirty="0">
                <a:solidFill>
                  <a:schemeClr val="tx2"/>
                </a:solidFill>
              </a:rPr>
              <a:t> '여름에 전기를 많이 쓴 건 에어컨 때문이다.'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2798064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STEP 2. 분석 목표 정의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데이터에게 던진 4가지 핵심 질문 (Research Questions)</a:t>
            </a:r>
            <a:endParaRPr lang="en-US" sz="3000" dirty="0"/>
          </a:p>
        </p:txBody>
      </p:sp>
      <p:sp>
        <p:nvSpPr>
          <p:cNvPr id="4" name="Row 1"/>
          <p:cNvSpPr/>
          <p:nvPr/>
        </p:nvSpPr>
        <p:spPr>
          <a:xfrm>
            <a:off x="457200" y="1691640"/>
            <a:ext cx="11277295" cy="1074420"/>
          </a:xfrm>
          <a:prstGeom prst="roundRect">
            <a:avLst>
              <a:gd name="adj" fmla="val 102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Row label bg 1"/>
          <p:cNvSpPr/>
          <p:nvPr/>
        </p:nvSpPr>
        <p:spPr>
          <a:xfrm>
            <a:off x="457200" y="1691640"/>
            <a:ext cx="3017520" cy="1074420"/>
          </a:xfrm>
          <a:prstGeom prst="roundRect">
            <a:avLst>
              <a:gd name="adj" fmla="val 1021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Row label 1"/>
          <p:cNvSpPr txBox="1"/>
          <p:nvPr/>
        </p:nvSpPr>
        <p:spPr>
          <a:xfrm>
            <a:off x="685800" y="1691640"/>
            <a:ext cx="26517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질문 1.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장기 추세 (Long-term)</a:t>
            </a:r>
            <a:endParaRPr lang="en-US" sz="1700" dirty="0"/>
          </a:p>
        </p:txBody>
      </p:sp>
      <p:sp>
        <p:nvSpPr>
          <p:cNvPr id="7" name="Row text 1"/>
          <p:cNvSpPr txBox="1"/>
          <p:nvPr/>
        </p:nvSpPr>
        <p:spPr>
          <a:xfrm>
            <a:off x="3749040" y="1691640"/>
            <a:ext cx="7756855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❓ 질문: </a:t>
            </a:r>
            <a:r>
              <a:rPr lang="en-US" sz="1200" b="1" dirty="0">
                <a:solidFill>
                  <a:schemeClr val="tx1"/>
                </a:solidFill>
              </a:rPr>
              <a:t>지난 11년간 우리나라 전체 전력 소비량은 꾸준히 늘어났을까?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💡 분석 방법: </a:t>
            </a:r>
            <a:r>
              <a:rPr lang="en-US" sz="1200" dirty="0">
                <a:solidFill>
                  <a:schemeClr val="tx2"/>
                </a:solidFill>
              </a:rPr>
              <a:t>연도별 총 전력수요량과 전년 대비 증가율을 분석하여 장기적 성장 패턴을 확인합니다.</a:t>
            </a:r>
            <a:endParaRPr lang="en-US" sz="1200" dirty="0"/>
          </a:p>
        </p:txBody>
      </p:sp>
      <p:sp>
        <p:nvSpPr>
          <p:cNvPr id="8" name="Row 2"/>
          <p:cNvSpPr/>
          <p:nvPr/>
        </p:nvSpPr>
        <p:spPr>
          <a:xfrm>
            <a:off x="457200" y="2903220"/>
            <a:ext cx="11277295" cy="1074420"/>
          </a:xfrm>
          <a:prstGeom prst="roundRect">
            <a:avLst>
              <a:gd name="adj" fmla="val 102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Row label bg 2"/>
          <p:cNvSpPr/>
          <p:nvPr/>
        </p:nvSpPr>
        <p:spPr>
          <a:xfrm>
            <a:off x="457200" y="2903220"/>
            <a:ext cx="3017520" cy="1074420"/>
          </a:xfrm>
          <a:prstGeom prst="roundRect">
            <a:avLst>
              <a:gd name="adj" fmla="val 1021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w label 2"/>
          <p:cNvSpPr txBox="1"/>
          <p:nvPr/>
        </p:nvSpPr>
        <p:spPr>
          <a:xfrm>
            <a:off x="685800" y="2903220"/>
            <a:ext cx="26517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질문 2.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계절성 (Seasonality)</a:t>
            </a:r>
            <a:endParaRPr lang="en-US" sz="1700" dirty="0"/>
          </a:p>
        </p:txBody>
      </p:sp>
      <p:sp>
        <p:nvSpPr>
          <p:cNvPr id="11" name="Row text 2"/>
          <p:cNvSpPr txBox="1"/>
          <p:nvPr/>
        </p:nvSpPr>
        <p:spPr>
          <a:xfrm>
            <a:off x="3749040" y="2903220"/>
            <a:ext cx="7756855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❓ 질문: </a:t>
            </a:r>
            <a:r>
              <a:rPr lang="en-US" sz="1200" b="1" dirty="0">
                <a:solidFill>
                  <a:schemeClr val="tx1"/>
                </a:solidFill>
              </a:rPr>
              <a:t>계절마다, 월마다 주기적으로 반복되는 전력 소비 패턴이 있을까?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💡 분석 방법: </a:t>
            </a:r>
            <a:r>
              <a:rPr lang="en-US" sz="1200" dirty="0">
                <a:solidFill>
                  <a:schemeClr val="tx2"/>
                </a:solidFill>
              </a:rPr>
              <a:t>1월~12월 및 봄/여름/가을/겨울별 평균 사용량을 비교하여 계절적 피크를 탐색합니다.</a:t>
            </a:r>
            <a:endParaRPr lang="en-US" sz="1200" dirty="0"/>
          </a:p>
        </p:txBody>
      </p:sp>
      <p:sp>
        <p:nvSpPr>
          <p:cNvPr id="12" name="Row 3"/>
          <p:cNvSpPr/>
          <p:nvPr/>
        </p:nvSpPr>
        <p:spPr>
          <a:xfrm>
            <a:off x="457200" y="4114800"/>
            <a:ext cx="11277295" cy="1074420"/>
          </a:xfrm>
          <a:prstGeom prst="roundRect">
            <a:avLst>
              <a:gd name="adj" fmla="val 102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3" name="Row label bg 3"/>
          <p:cNvSpPr/>
          <p:nvPr/>
        </p:nvSpPr>
        <p:spPr>
          <a:xfrm>
            <a:off x="457200" y="4114800"/>
            <a:ext cx="3017520" cy="1074420"/>
          </a:xfrm>
          <a:prstGeom prst="roundRect">
            <a:avLst>
              <a:gd name="adj" fmla="val 1021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Row label 3"/>
          <p:cNvSpPr txBox="1"/>
          <p:nvPr/>
        </p:nvSpPr>
        <p:spPr>
          <a:xfrm>
            <a:off x="685800" y="4114800"/>
            <a:ext cx="26517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질문 3.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급격한 변화 (Volatility)</a:t>
            </a:r>
            <a:endParaRPr lang="en-US" sz="1700" dirty="0"/>
          </a:p>
        </p:txBody>
      </p:sp>
      <p:sp>
        <p:nvSpPr>
          <p:cNvPr id="15" name="Row text 3"/>
          <p:cNvSpPr txBox="1"/>
          <p:nvPr/>
        </p:nvSpPr>
        <p:spPr>
          <a:xfrm>
            <a:off x="3749040" y="4114800"/>
            <a:ext cx="7756855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❓ 질문: </a:t>
            </a:r>
            <a:r>
              <a:rPr lang="en-US" sz="1200" b="1" dirty="0">
                <a:solidFill>
                  <a:schemeClr val="tx1"/>
                </a:solidFill>
              </a:rPr>
              <a:t>전력 수요가 평소보다 갑자기 크게 튀거나 떨어진 날은 언제일까?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💡 분석 방법: </a:t>
            </a:r>
            <a:r>
              <a:rPr lang="en-US" sz="1200" dirty="0">
                <a:solidFill>
                  <a:schemeClr val="tx2"/>
                </a:solidFill>
              </a:rPr>
              <a:t>전일 대비 변화율의 상위 1%와 하위 1% 기준을 적용해 특이 일자(82일)를 추출합니다.</a:t>
            </a:r>
            <a:endParaRPr lang="en-US" sz="1200" dirty="0"/>
          </a:p>
        </p:txBody>
      </p:sp>
      <p:sp>
        <p:nvSpPr>
          <p:cNvPr id="16" name="Row 4"/>
          <p:cNvSpPr/>
          <p:nvPr/>
        </p:nvSpPr>
        <p:spPr>
          <a:xfrm>
            <a:off x="457200" y="5326380"/>
            <a:ext cx="11277295" cy="1074420"/>
          </a:xfrm>
          <a:prstGeom prst="roundRect">
            <a:avLst>
              <a:gd name="adj" fmla="val 102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7" name="Row label bg 4"/>
          <p:cNvSpPr/>
          <p:nvPr/>
        </p:nvSpPr>
        <p:spPr>
          <a:xfrm>
            <a:off x="457200" y="5326380"/>
            <a:ext cx="3017520" cy="1074420"/>
          </a:xfrm>
          <a:prstGeom prst="roundRect">
            <a:avLst>
              <a:gd name="adj" fmla="val 1021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Row label 4"/>
          <p:cNvSpPr txBox="1"/>
          <p:nvPr/>
        </p:nvSpPr>
        <p:spPr>
          <a:xfrm>
            <a:off x="685800" y="5326380"/>
            <a:ext cx="265176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질문 4.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코로나 영향 (COVID-19)</a:t>
            </a:r>
            <a:endParaRPr lang="en-US" sz="1700" dirty="0"/>
          </a:p>
        </p:txBody>
      </p:sp>
      <p:sp>
        <p:nvSpPr>
          <p:cNvPr id="19" name="Row text 4"/>
          <p:cNvSpPr txBox="1"/>
          <p:nvPr/>
        </p:nvSpPr>
        <p:spPr>
          <a:xfrm>
            <a:off x="3749040" y="5326380"/>
            <a:ext cx="7756855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❓ 질문: </a:t>
            </a:r>
            <a:r>
              <a:rPr lang="en-US" sz="1200" b="1" dirty="0">
                <a:solidFill>
                  <a:schemeClr val="tx1"/>
                </a:solidFill>
              </a:rPr>
              <a:t>코로나19 전후로 우리나라 전력 소비 습관이나 변동폭이 바뀌었을까?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💡 분석 방법: </a:t>
            </a:r>
            <a:r>
              <a:rPr lang="en-US" sz="1200" dirty="0">
                <a:solidFill>
                  <a:schemeClr val="tx2"/>
                </a:solidFill>
              </a:rPr>
              <a:t>코로나 이전(15~19), 영향기(20~21), 이후(22~25) 3구간의 평균과 변동성을 비교합니다.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2990088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STEP 3. 데이터 품질 관리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깨끗하게 다듬어진 4,018일간의 데이터 무결성 검증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457200" y="1691640"/>
            <a:ext cx="3606698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Stat text 1"/>
          <p:cNvSpPr txBox="1"/>
          <p:nvPr/>
        </p:nvSpPr>
        <p:spPr>
          <a:xfrm>
            <a:off x="731520" y="1874520"/>
            <a:ext cx="310377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4,018</a:t>
            </a:r>
            <a:r>
              <a:rPr lang="en-US" sz="2000" b="1" dirty="0">
                <a:solidFill>
                  <a:schemeClr val="accent1"/>
                </a:solidFill>
              </a:rPr>
              <a:t>일</a:t>
            </a:r>
            <a:endParaRPr lang="en-US" sz="4000" dirty="0"/>
          </a:p>
          <a:p>
            <a:pPr marL="0" indent="0">
              <a:spcAft>
                <a:spcPts val="400"/>
              </a:spcAft>
              <a:buNone/>
            </a:pP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 err="1">
                <a:solidFill>
                  <a:schemeClr val="tx1"/>
                </a:solidFill>
              </a:rPr>
              <a:t>분석</a:t>
            </a:r>
            <a:r>
              <a:rPr lang="en-US" sz="1600" b="1" dirty="0">
                <a:solidFill>
                  <a:schemeClr val="tx1"/>
                </a:solidFill>
              </a:rPr>
              <a:t> 대상 총 기간</a:t>
            </a:r>
            <a:endParaRPr lang="en-US" sz="40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2015.01.01 ~ 2025.12.31 (11년)</a:t>
            </a:r>
            <a:endParaRPr lang="en-US" sz="4000" dirty="0"/>
          </a:p>
        </p:txBody>
      </p:sp>
      <p:sp>
        <p:nvSpPr>
          <p:cNvPr id="6" name="Stat card 2"/>
          <p:cNvSpPr/>
          <p:nvPr/>
        </p:nvSpPr>
        <p:spPr>
          <a:xfrm>
            <a:off x="4292498" y="1691640"/>
            <a:ext cx="3606698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Stat text 2"/>
          <p:cNvSpPr txBox="1"/>
          <p:nvPr/>
        </p:nvSpPr>
        <p:spPr>
          <a:xfrm>
            <a:off x="4566818" y="1874520"/>
            <a:ext cx="310377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r>
              <a:rPr lang="en-US" sz="2000" b="1" dirty="0">
                <a:solidFill>
                  <a:schemeClr val="accent2"/>
                </a:solidFill>
              </a:rPr>
              <a:t>일</a:t>
            </a:r>
            <a:r>
              <a:rPr lang="en-US" b="1" dirty="0">
                <a:solidFill>
                  <a:schemeClr val="accent2"/>
                </a:solidFill>
              </a:rPr>
              <a:t> (100% 성공)</a:t>
            </a:r>
            <a:endParaRPr lang="en-US" sz="4000" dirty="0"/>
          </a:p>
          <a:p>
            <a:pPr marL="0" indent="0">
              <a:spcAft>
                <a:spcPts val="400"/>
              </a:spcAft>
              <a:buNone/>
            </a:pP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 err="1">
                <a:solidFill>
                  <a:schemeClr val="tx1"/>
                </a:solidFill>
              </a:rPr>
              <a:t>결측</a:t>
            </a:r>
            <a:r>
              <a:rPr lang="en-US" sz="1600" b="1" dirty="0">
                <a:solidFill>
                  <a:schemeClr val="tx1"/>
                </a:solidFill>
              </a:rPr>
              <a:t> 및 중복 날짜</a:t>
            </a:r>
            <a:endParaRPr lang="en-US" sz="40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빠진 날짜가 단 하루도 없는 완벽한 연속성</a:t>
            </a:r>
            <a:endParaRPr lang="en-US" sz="4000" dirty="0"/>
          </a:p>
        </p:txBody>
      </p:sp>
      <p:sp>
        <p:nvSpPr>
          <p:cNvPr id="8" name="Stat card 3"/>
          <p:cNvSpPr/>
          <p:nvPr/>
        </p:nvSpPr>
        <p:spPr>
          <a:xfrm>
            <a:off x="8127797" y="1691640"/>
            <a:ext cx="3606698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Stat text 3"/>
          <p:cNvSpPr txBox="1"/>
          <p:nvPr/>
        </p:nvSpPr>
        <p:spPr>
          <a:xfrm>
            <a:off x="8402117" y="1874520"/>
            <a:ext cx="310377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3"/>
                </a:solidFill>
              </a:rPr>
              <a:t>GWh</a:t>
            </a:r>
            <a:endParaRPr lang="en-US" sz="4000" dirty="0"/>
          </a:p>
          <a:p>
            <a:pPr marL="0" indent="0">
              <a:spcAft>
                <a:spcPts val="400"/>
              </a:spcAft>
              <a:buNone/>
            </a:pP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 err="1">
                <a:solidFill>
                  <a:schemeClr val="tx1"/>
                </a:solidFill>
              </a:rPr>
              <a:t>보고서</a:t>
            </a:r>
            <a:r>
              <a:rPr lang="en-US" sz="1600" b="1" dirty="0">
                <a:solidFill>
                  <a:schemeClr val="tx1"/>
                </a:solidFill>
              </a:rPr>
              <a:t> 표준 단위</a:t>
            </a:r>
            <a:endParaRPr lang="en-US" sz="40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MWh ÷ 1,000 변환으로 직관성 확보</a:t>
            </a:r>
            <a:endParaRPr lang="en-US" sz="4000" dirty="0"/>
          </a:p>
        </p:txBody>
      </p:sp>
      <p:sp>
        <p:nvSpPr>
          <p:cNvPr id="10" name="Tip card"/>
          <p:cNvSpPr/>
          <p:nvPr/>
        </p:nvSpPr>
        <p:spPr>
          <a:xfrm>
            <a:off x="457200" y="4069080"/>
            <a:ext cx="11277295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1" name="Tip text"/>
          <p:cNvSpPr txBox="1"/>
          <p:nvPr/>
        </p:nvSpPr>
        <p:spPr>
          <a:xfrm>
            <a:off x="777240" y="4251960"/>
            <a:ext cx="106372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accent3"/>
                </a:solidFill>
              </a:rPr>
              <a:t>💡 초보자를 위한 팁: 왜 데이터 정제가 </a:t>
            </a:r>
            <a:r>
              <a:rPr lang="en-US" b="1" dirty="0" err="1">
                <a:solidFill>
                  <a:schemeClr val="accent3"/>
                </a:solidFill>
              </a:rPr>
              <a:t>중요할까요</a:t>
            </a:r>
            <a:r>
              <a:rPr lang="en-US" b="1" dirty="0">
                <a:solidFill>
                  <a:schemeClr val="accent3"/>
                </a:solidFill>
              </a:rPr>
              <a:t>?</a:t>
            </a:r>
            <a:endParaRPr lang="en-US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요리에 비유하면 데이터 전처리는 '채소를 깨끗이 씻고 다듬는 과정'과 같습니다.</a:t>
            </a:r>
            <a:endParaRPr lang="en-US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날짜가 중간에 비어 있거나(결측치) 같은 날이 두 번 들어가면(중복치) 분석 결과 전체가 오염됩니다.</a:t>
            </a:r>
            <a:endParaRPr lang="en-US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본 프로젝트는 파이프라인 코드(preprocess_power_demand.py)를 통해 11년간 4,018일 데이터의 결측 0건, 집계 오차 0%를 수치로 완벽 검증했습니다.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3035808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 1. 장기 추세 분석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지난 11년간 우리나라 전력 수요는 8.51% 성장했습니다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457200" y="1691640"/>
            <a:ext cx="4023360" cy="47091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Stat text"/>
          <p:cNvSpPr txBox="1"/>
          <p:nvPr/>
        </p:nvSpPr>
        <p:spPr>
          <a:xfrm>
            <a:off x="777240" y="1965960"/>
            <a:ext cx="34747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2"/>
                </a:solidFill>
              </a:rPr>
              <a:t>11년 성장률</a:t>
            </a:r>
            <a:endParaRPr lang="en-US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+8.51%</a:t>
            </a:r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2015년 연간 수요:</a:t>
            </a:r>
            <a:endParaRPr lang="en-US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520,746 GWh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2025년 연간 수요:</a:t>
            </a:r>
            <a:endParaRPr lang="en-US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565,049 GWh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역대 최고 기록(2022년):</a:t>
            </a:r>
            <a:endParaRPr lang="en-US" dirty="0"/>
          </a:p>
          <a:p>
            <a:pPr marL="0" lvl="1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574,426 GWh</a:t>
            </a:r>
            <a:endParaRPr lang="en-US" dirty="0"/>
          </a:p>
        </p:txBody>
      </p:sp>
      <p:sp>
        <p:nvSpPr>
          <p:cNvPr id="6" name="Card 1"/>
          <p:cNvSpPr/>
          <p:nvPr/>
        </p:nvSpPr>
        <p:spPr>
          <a:xfrm>
            <a:off x="4709160" y="1691640"/>
            <a:ext cx="7025335" cy="1447800"/>
          </a:xfrm>
          <a:prstGeom prst="roundRect">
            <a:avLst>
              <a:gd name="adj" fmla="val 757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Card text 1"/>
          <p:cNvSpPr txBox="1"/>
          <p:nvPr/>
        </p:nvSpPr>
        <p:spPr>
          <a:xfrm>
            <a:off x="4983480" y="1828800"/>
            <a:ext cx="652241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📌 관찰된 사실 (Fact)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전체 전력 소비량은 2015년 대비 2025년에 약 8.51% </a:t>
            </a:r>
            <a:r>
              <a:rPr lang="en-US" sz="1400" dirty="0" err="1">
                <a:solidFill>
                  <a:schemeClr val="tx1"/>
                </a:solidFill>
              </a:rPr>
              <a:t>증가했습니다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2022년에는 574,426 GWh로 분석 기간 중 최고치를 기록했습니다.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709160" y="3322320"/>
            <a:ext cx="7025335" cy="1447800"/>
          </a:xfrm>
          <a:prstGeom prst="roundRect">
            <a:avLst>
              <a:gd name="adj" fmla="val 757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Card text 2"/>
          <p:cNvSpPr txBox="1"/>
          <p:nvPr/>
        </p:nvSpPr>
        <p:spPr>
          <a:xfrm>
            <a:off x="4983480" y="3459480"/>
            <a:ext cx="652241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📈 단순 직선 성장이 아님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매년 꾸준히 오르기만 한 것은 아닙니다. 2019년과 2020년에는 전년 대비 수요가 감소했고, 2021~2022년에 다시 급회복하는 '감소-회복-정체' 패턴을 보였습니다.</a:t>
            </a:r>
            <a:endParaRPr lang="en-US" sz="1600" dirty="0"/>
          </a:p>
        </p:txBody>
      </p:sp>
      <p:sp>
        <p:nvSpPr>
          <p:cNvPr id="10" name="Card 3"/>
          <p:cNvSpPr/>
          <p:nvPr/>
        </p:nvSpPr>
        <p:spPr>
          <a:xfrm>
            <a:off x="4709160" y="4953000"/>
            <a:ext cx="7025335" cy="1447800"/>
          </a:xfrm>
          <a:prstGeom prst="roundRect">
            <a:avLst>
              <a:gd name="adj" fmla="val 757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1" name="Card text 3"/>
          <p:cNvSpPr txBox="1"/>
          <p:nvPr/>
        </p:nvSpPr>
        <p:spPr>
          <a:xfrm>
            <a:off x="4983480" y="5090160"/>
            <a:ext cx="652241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💡 초보자를 위한 해석 한계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전력 소비가 늘었다고 해서 무조건 경제가 성장했다고만 볼 수는 없습니다. 산업 구조 변화, 기후 변화 등 추가 데이터를 결합해야 정확한 원인을 알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2724912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 2. 계절성 패턴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우리나라 전력 소비는 '겨울'과 '여름'에 우뚝 솟아오릅니다</a:t>
            </a:r>
            <a:endParaRPr lang="en-US" sz="3000" dirty="0"/>
          </a:p>
        </p:txBody>
      </p:sp>
      <p:sp>
        <p:nvSpPr>
          <p:cNvPr id="4" name="Season card 1"/>
          <p:cNvSpPr/>
          <p:nvPr/>
        </p:nvSpPr>
        <p:spPr>
          <a:xfrm>
            <a:off x="457200" y="1691640"/>
            <a:ext cx="2682164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Season text 1"/>
          <p:cNvSpPr txBox="1"/>
          <p:nvPr/>
        </p:nvSpPr>
        <p:spPr>
          <a:xfrm>
            <a:off x="685800" y="1920240"/>
            <a:ext cx="22706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5"/>
                </a:solidFill>
              </a:rPr>
              <a:t>❄️ 겨울 (Winter)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1위 (가장 </a:t>
            </a:r>
            <a:r>
              <a:rPr lang="en-US" sz="1600" b="1" dirty="0" err="1">
                <a:solidFill>
                  <a:schemeClr val="tx1"/>
                </a:solidFill>
              </a:rPr>
              <a:t>높음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1월 피크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난방기구 가동 급증 추정</a:t>
            </a:r>
            <a:endParaRPr lang="en-US" sz="1600" dirty="0"/>
          </a:p>
        </p:txBody>
      </p:sp>
      <p:sp>
        <p:nvSpPr>
          <p:cNvPr id="6" name="Season card 2"/>
          <p:cNvSpPr/>
          <p:nvPr/>
        </p:nvSpPr>
        <p:spPr>
          <a:xfrm>
            <a:off x="3322244" y="1691640"/>
            <a:ext cx="2682164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Season text 2"/>
          <p:cNvSpPr txBox="1"/>
          <p:nvPr/>
        </p:nvSpPr>
        <p:spPr>
          <a:xfrm>
            <a:off x="3550844" y="1920240"/>
            <a:ext cx="22706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☀️ 여름 (Summer)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2위 (두 </a:t>
            </a:r>
            <a:r>
              <a:rPr lang="en-US" sz="1600" b="1" dirty="0" err="1">
                <a:solidFill>
                  <a:schemeClr val="tx1"/>
                </a:solidFill>
              </a:rPr>
              <a:t>번째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8월 피크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냉방(에어컨) 수요 급증 추정</a:t>
            </a:r>
            <a:endParaRPr lang="en-US" sz="1600" dirty="0"/>
          </a:p>
        </p:txBody>
      </p:sp>
      <p:sp>
        <p:nvSpPr>
          <p:cNvPr id="8" name="Season card 3"/>
          <p:cNvSpPr/>
          <p:nvPr/>
        </p:nvSpPr>
        <p:spPr>
          <a:xfrm>
            <a:off x="6187288" y="1691640"/>
            <a:ext cx="2682164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Season text 3"/>
          <p:cNvSpPr txBox="1"/>
          <p:nvPr/>
        </p:nvSpPr>
        <p:spPr>
          <a:xfrm>
            <a:off x="6415888" y="1920240"/>
            <a:ext cx="22706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🍂 가을 (Autumn)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3위 (상대적 </a:t>
            </a:r>
            <a:r>
              <a:rPr lang="en-US" sz="1600" b="1" dirty="0" err="1">
                <a:solidFill>
                  <a:schemeClr val="tx1"/>
                </a:solidFill>
              </a:rPr>
              <a:t>낮음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10월 저점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선선한 기후로 전력 안정</a:t>
            </a:r>
            <a:endParaRPr lang="en-US" sz="1600" dirty="0"/>
          </a:p>
        </p:txBody>
      </p:sp>
      <p:sp>
        <p:nvSpPr>
          <p:cNvPr id="10" name="Season card 4"/>
          <p:cNvSpPr/>
          <p:nvPr/>
        </p:nvSpPr>
        <p:spPr>
          <a:xfrm>
            <a:off x="9052331" y="1691640"/>
            <a:ext cx="2682164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1" name="Season text 4"/>
          <p:cNvSpPr txBox="1"/>
          <p:nvPr/>
        </p:nvSpPr>
        <p:spPr>
          <a:xfrm>
            <a:off x="9280931" y="1920240"/>
            <a:ext cx="22706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🌱 봄 (Spring)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4위 (가장 </a:t>
            </a:r>
            <a:r>
              <a:rPr lang="en-US" sz="1600" b="1" dirty="0" err="1">
                <a:solidFill>
                  <a:schemeClr val="tx1"/>
                </a:solidFill>
              </a:rPr>
              <a:t>낮음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5월 저점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온화한 기후로 전력 최저</a:t>
            </a:r>
            <a:endParaRPr lang="en-US" sz="1600" dirty="0"/>
          </a:p>
        </p:txBody>
      </p:sp>
      <p:sp>
        <p:nvSpPr>
          <p:cNvPr id="12" name="Fact vs Hypothesis card"/>
          <p:cNvSpPr/>
          <p:nvPr/>
        </p:nvSpPr>
        <p:spPr>
          <a:xfrm>
            <a:off x="457200" y="4251960"/>
            <a:ext cx="11277295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3" name="Fact vs Hypothesis text"/>
          <p:cNvSpPr txBox="1"/>
          <p:nvPr/>
        </p:nvSpPr>
        <p:spPr>
          <a:xfrm>
            <a:off x="777240" y="4434840"/>
            <a:ext cx="1063721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🔍 Fact와 Hypothesis 구분하기 연습</a:t>
            </a:r>
            <a:endParaRPr lang="en-US" sz="2000" dirty="0"/>
          </a:p>
          <a:p>
            <a:pPr marL="228600" indent="-2286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Fact (관찰된 사실): </a:t>
            </a:r>
            <a:r>
              <a:rPr lang="en-US" sz="1600" dirty="0">
                <a:solidFill>
                  <a:schemeClr val="tx1"/>
                </a:solidFill>
              </a:rPr>
              <a:t>1월과 8월의 일평균 전력수요량이 5월과 10월보다 현저히 높다. (수치 증명 완료)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Hypothesis (가능한 가설): </a:t>
            </a:r>
            <a:r>
              <a:rPr lang="en-US" sz="1600" dirty="0">
                <a:solidFill>
                  <a:schemeClr val="tx1"/>
                </a:solidFill>
              </a:rPr>
              <a:t>겨울철 전기난방과 여름철 에어컨 사용 때문일 것이다.</a:t>
            </a:r>
            <a:endParaRPr lang="en-US" sz="20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4"/>
                </a:solidFill>
              </a:rPr>
              <a:t>주의: 본 데이터에는 '기온'이나 '용도별(가정/산업용)' 데이터가 없으므로 가설을 확정하면 안 됩니다!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3227832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 3. 급격한 변화 탐색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전일 대비 전력 사용량이 20% 이상 급변한 82일을 찾았습니다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691640"/>
            <a:ext cx="552434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Card text 1"/>
          <p:cNvSpPr txBox="1"/>
          <p:nvPr/>
        </p:nvSpPr>
        <p:spPr>
          <a:xfrm>
            <a:off x="731520" y="1920240"/>
            <a:ext cx="50214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🚀 최대 증가일: +24.32%</a:t>
            </a:r>
            <a:endParaRPr lang="en-US" sz="20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날짜: 2024년 4월 15일 (월요일)</a:t>
            </a:r>
            <a:endParaRPr lang="en-US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원인 추정: 주말(휴일) 이후 월요일 조업 재개 및 연휴 여파</a:t>
            </a:r>
            <a:endParaRPr lang="en-US" dirty="0"/>
          </a:p>
        </p:txBody>
      </p:sp>
      <p:sp>
        <p:nvSpPr>
          <p:cNvPr id="6" name="Card 2"/>
          <p:cNvSpPr/>
          <p:nvPr/>
        </p:nvSpPr>
        <p:spPr>
          <a:xfrm>
            <a:off x="6210148" y="1691640"/>
            <a:ext cx="552434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Card text 2"/>
          <p:cNvSpPr txBox="1"/>
          <p:nvPr/>
        </p:nvSpPr>
        <p:spPr>
          <a:xfrm>
            <a:off x="6484468" y="1920240"/>
            <a:ext cx="50214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📉 최대 감소일: -22.11%</a:t>
            </a:r>
            <a:endParaRPr lang="en-US" sz="20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날짜: 2019년 9월 12일 (추석 연휴 시작일)</a:t>
            </a:r>
            <a:endParaRPr lang="en-US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원인 추정: 명절 연휴 시작으로 인한 공장 조업 중단</a:t>
            </a:r>
            <a:endParaRPr lang="en-US" dirty="0"/>
          </a:p>
        </p:txBody>
      </p:sp>
      <p:sp>
        <p:nvSpPr>
          <p:cNvPr id="8" name="Quantile card"/>
          <p:cNvSpPr/>
          <p:nvPr/>
        </p:nvSpPr>
        <p:spPr>
          <a:xfrm>
            <a:off x="457200" y="3931920"/>
            <a:ext cx="11277295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Quantile text"/>
          <p:cNvSpPr txBox="1"/>
          <p:nvPr/>
        </p:nvSpPr>
        <p:spPr>
          <a:xfrm>
            <a:off x="777240" y="4114800"/>
            <a:ext cx="106372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💡 '분위수(Quantile)' 기준이란 무엇일까요?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주관적으로 '10% 이상 변하면 이상치'라고 정하는 대신, 4,018일 전체 데이터의 변화율을 크기순으로 줄 세웠습니다.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상위 1%(증가폭 최상위 41일) 기준은 +20.69% 이상, 하위 1%(감소폭 최상위 41일) 기준은 -13.24% 이하였습니다.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객관적 통계 기준을 적용하여 총 82일의 '급변 후보일'을 정밀하게 가려냈습니다.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3465576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 4. 코로나19 전후 비교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코로나 이후 하루 평균 전력 수요량이 4.35% 증가했습니다</a:t>
            </a:r>
            <a:endParaRPr lang="en-US" sz="3000" dirty="0"/>
          </a:p>
        </p:txBody>
      </p:sp>
      <p:sp>
        <p:nvSpPr>
          <p:cNvPr id="4" name="Period card 1"/>
          <p:cNvSpPr/>
          <p:nvPr/>
        </p:nvSpPr>
        <p:spPr>
          <a:xfrm>
            <a:off x="457200" y="1691640"/>
            <a:ext cx="3606698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Period text 1"/>
          <p:cNvSpPr txBox="1"/>
          <p:nvPr/>
        </p:nvSpPr>
        <p:spPr>
          <a:xfrm>
            <a:off x="731520" y="1920240"/>
            <a:ext cx="314949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tx2"/>
                </a:solidFill>
              </a:rPr>
              <a:t>1. 코로나 이전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2015~2019 (5년)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1,491</a:t>
            </a:r>
            <a:r>
              <a:rPr lang="en-US" sz="1600" b="1" dirty="0">
                <a:solidFill>
                  <a:schemeClr val="tx1"/>
                </a:solidFill>
              </a:rPr>
              <a:t> GWh / 일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표준편차: 156.99 GWh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안정적인 전력 소비 흐름</a:t>
            </a:r>
            <a:endParaRPr lang="en-US" dirty="0"/>
          </a:p>
        </p:txBody>
      </p:sp>
      <p:sp>
        <p:nvSpPr>
          <p:cNvPr id="6" name="Period card 2"/>
          <p:cNvSpPr/>
          <p:nvPr/>
        </p:nvSpPr>
        <p:spPr>
          <a:xfrm>
            <a:off x="4292498" y="1691640"/>
            <a:ext cx="3606698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Period text 2"/>
          <p:cNvSpPr txBox="1"/>
          <p:nvPr/>
        </p:nvSpPr>
        <p:spPr>
          <a:xfrm>
            <a:off x="4566818" y="1920240"/>
            <a:ext cx="314949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accent3"/>
                </a:solidFill>
              </a:rPr>
              <a:t>2. 코로나 영향기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2020~2021 (2년)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1,498</a:t>
            </a:r>
            <a:r>
              <a:rPr lang="en-US" sz="1600" b="1" dirty="0">
                <a:solidFill>
                  <a:schemeClr val="tx1"/>
                </a:solidFill>
              </a:rPr>
              <a:t> GWh / 일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이전 대비 +0.47% 소폭 상승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재택근무 및 조업 변동</a:t>
            </a:r>
            <a:endParaRPr lang="en-US" dirty="0"/>
          </a:p>
        </p:txBody>
      </p:sp>
      <p:sp>
        <p:nvSpPr>
          <p:cNvPr id="8" name="Period card 3"/>
          <p:cNvSpPr/>
          <p:nvPr/>
        </p:nvSpPr>
        <p:spPr>
          <a:xfrm>
            <a:off x="8127797" y="1691640"/>
            <a:ext cx="3606698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Period text 3"/>
          <p:cNvSpPr txBox="1"/>
          <p:nvPr/>
        </p:nvSpPr>
        <p:spPr>
          <a:xfrm>
            <a:off x="8402117" y="1920240"/>
            <a:ext cx="314949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b="1" dirty="0">
                <a:solidFill>
                  <a:schemeClr val="accent1"/>
                </a:solidFill>
              </a:rPr>
              <a:t>3. 코로나 이후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2022~2025 (4년)</a:t>
            </a:r>
            <a:endParaRPr lang="en-US" dirty="0"/>
          </a:p>
          <a:p>
            <a:pPr marL="0" indent="0"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1,556</a:t>
            </a:r>
            <a:r>
              <a:rPr lang="en-US" sz="1600" b="1" dirty="0">
                <a:solidFill>
                  <a:schemeClr val="tx1"/>
                </a:solidFill>
              </a:rPr>
              <a:t> GWh / 일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이전 대비 +4.35% 본격 상승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표준편차 183.00 GWh로 확대</a:t>
            </a:r>
            <a:endParaRPr lang="en-US" dirty="0"/>
          </a:p>
        </p:txBody>
      </p:sp>
      <p:sp>
        <p:nvSpPr>
          <p:cNvPr id="10" name="Insight card"/>
          <p:cNvSpPr/>
          <p:nvPr/>
        </p:nvSpPr>
        <p:spPr>
          <a:xfrm>
            <a:off x="457200" y="4709160"/>
            <a:ext cx="11277295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1" name="Insight text"/>
          <p:cNvSpPr txBox="1"/>
          <p:nvPr/>
        </p:nvSpPr>
        <p:spPr>
          <a:xfrm>
            <a:off x="777240" y="4892040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💡 핵심 인사이트: 평균 상승과 함께 '변동 폭(널뛰기)'도 커졌습니다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코로나 이후 평균 전력 수요가 늘어났을 뿐만 아니라, 일별 사용량의 차이(표준편차: 156.99 → 183.00 GWh)도 확대되었습니다.</a:t>
            </a:r>
            <a:endParaRPr lang="en-US" sz="16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이는 전력망 관리에 있어서 피크 관리와 변동성 대응이 더욱 중요해졌음을 의미합니다.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2962656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STEP 4. AI 활용 및 검증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AI 도구를 효율적으로 쓰고 4단계로 엄격히 검증했습니다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457200" y="1691640"/>
            <a:ext cx="268216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Step text 1"/>
          <p:cNvSpPr txBox="1"/>
          <p:nvPr/>
        </p:nvSpPr>
        <p:spPr>
          <a:xfrm>
            <a:off x="658368" y="1892808"/>
            <a:ext cx="23164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accent1"/>
                </a:solidFill>
              </a:rPr>
              <a:t>1단계. </a:t>
            </a:r>
            <a:r>
              <a:rPr lang="en-US" b="1" dirty="0" err="1">
                <a:solidFill>
                  <a:schemeClr val="accent1"/>
                </a:solidFill>
              </a:rPr>
              <a:t>무결성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검증</a:t>
            </a:r>
            <a:endParaRPr lang="en-US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날짜 범위 4,018일 연속성 확인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결측치 0건, 중복치 0건 재검증</a:t>
            </a:r>
            <a:endParaRPr lang="en-US" sz="1600" dirty="0"/>
          </a:p>
        </p:txBody>
      </p:sp>
      <p:sp>
        <p:nvSpPr>
          <p:cNvPr id="6" name="Step card 2"/>
          <p:cNvSpPr/>
          <p:nvPr/>
        </p:nvSpPr>
        <p:spPr>
          <a:xfrm>
            <a:off x="3322244" y="1691640"/>
            <a:ext cx="268216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Step text 2"/>
          <p:cNvSpPr txBox="1"/>
          <p:nvPr/>
        </p:nvSpPr>
        <p:spPr>
          <a:xfrm>
            <a:off x="3523412" y="1892808"/>
            <a:ext cx="23164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accent2"/>
                </a:solidFill>
              </a:rPr>
              <a:t>2단계. 수치 재계산</a:t>
            </a:r>
            <a:endParaRPr lang="en-US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시간별 → 일별 → 월별 → 연별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집계 합계가 100% 일치하는지 계산</a:t>
            </a:r>
            <a:endParaRPr lang="en-US" sz="1600" dirty="0"/>
          </a:p>
        </p:txBody>
      </p:sp>
      <p:sp>
        <p:nvSpPr>
          <p:cNvPr id="8" name="Step card 3"/>
          <p:cNvSpPr/>
          <p:nvPr/>
        </p:nvSpPr>
        <p:spPr>
          <a:xfrm>
            <a:off x="6187288" y="1691640"/>
            <a:ext cx="268216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9" name="Step text 3"/>
          <p:cNvSpPr txBox="1"/>
          <p:nvPr/>
        </p:nvSpPr>
        <p:spPr>
          <a:xfrm>
            <a:off x="6388456" y="1892808"/>
            <a:ext cx="23164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accent3"/>
                </a:solidFill>
              </a:rPr>
              <a:t>3단계. 1:1 수치 대조</a:t>
            </a:r>
            <a:endParaRPr lang="en-US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보고서 텍스트 수치와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결과 표(CSV) 및 그래프 일치 대조</a:t>
            </a:r>
            <a:endParaRPr lang="en-US" sz="1600" dirty="0"/>
          </a:p>
        </p:txBody>
      </p:sp>
      <p:sp>
        <p:nvSpPr>
          <p:cNvPr id="10" name="Step card 4"/>
          <p:cNvSpPr/>
          <p:nvPr/>
        </p:nvSpPr>
        <p:spPr>
          <a:xfrm>
            <a:off x="9052331" y="1691640"/>
            <a:ext cx="2682164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1" name="Step text 4"/>
          <p:cNvSpPr txBox="1"/>
          <p:nvPr/>
        </p:nvSpPr>
        <p:spPr>
          <a:xfrm>
            <a:off x="9253499" y="1892808"/>
            <a:ext cx="23164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chemeClr val="accent4"/>
                </a:solidFill>
              </a:rPr>
              <a:t>4단계. 대시보드 실행</a:t>
            </a:r>
            <a:endParaRPr lang="en-US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Streamlit 대시보드 앱 실행 및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메뉴별 필터 동작 상태 검증</a:t>
            </a:r>
            <a:endParaRPr lang="en-US" sz="1600" dirty="0"/>
          </a:p>
        </p:txBody>
      </p:sp>
      <p:sp>
        <p:nvSpPr>
          <p:cNvPr id="12" name="AI principle card"/>
          <p:cNvSpPr/>
          <p:nvPr/>
        </p:nvSpPr>
        <p:spPr>
          <a:xfrm>
            <a:off x="457200" y="4160520"/>
            <a:ext cx="11277295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13" name="AI principle text"/>
          <p:cNvSpPr txBox="1"/>
          <p:nvPr/>
        </p:nvSpPr>
        <p:spPr>
          <a:xfrm>
            <a:off x="777240" y="4343400"/>
            <a:ext cx="106372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b="1" dirty="0">
                <a:solidFill>
                  <a:schemeClr val="accent1"/>
                </a:solidFill>
              </a:rPr>
              <a:t>🤖 AI 도구 활용 원칙: '생성은 AI에게, 검증은 인간이!'</a:t>
            </a:r>
            <a:endParaRPr lang="en-US" dirty="0"/>
          </a:p>
          <a:p>
            <a:pPr marL="228600" indent="-2286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AI 활용: </a:t>
            </a:r>
            <a:r>
              <a:rPr lang="en-US" sz="1400" dirty="0">
                <a:solidFill>
                  <a:schemeClr val="tx1"/>
                </a:solidFill>
              </a:rPr>
              <a:t>데이터 정제 코드, 시각화 그래프, Streamlit 대시보드 초안 작성을 보조하여 작업 시간 대폭 단축</a:t>
            </a:r>
            <a:endParaRPr lang="en-US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인간 검증: </a:t>
            </a:r>
            <a:r>
              <a:rPr lang="en-US" sz="1400" dirty="0">
                <a:solidFill>
                  <a:schemeClr val="tx1"/>
                </a:solidFill>
              </a:rPr>
              <a:t>AI가 만든 코드나 해석을 그대로 믿지 않고, 결과 수치를 직접 재계산하고 대조하여 과장된 해석 방지</a:t>
            </a:r>
            <a:endParaRPr lang="en-US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AI 활용 기록: </a:t>
            </a:r>
            <a:r>
              <a:rPr lang="en-US" sz="1400" dirty="0">
                <a:solidFill>
                  <a:schemeClr val="tx1"/>
                </a:solidFill>
              </a:rPr>
              <a:t>AI_USAGE_LOG.md 문서를 통해 어떤 질문을 던졌고 어떻게 검증했는지 모든 과정을 투명하게 기록함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/>
          <p:nvPr/>
        </p:nvSpPr>
        <p:spPr>
          <a:xfrm>
            <a:off x="457200" y="347472"/>
            <a:ext cx="3300984" cy="36576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STEP 5. 한계점 및 최종 결론</a:t>
            </a:r>
            <a:endParaRPr lang="en-US" sz="15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77724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데이터 분석이 주는 진짜 가치: 한계를 알고 기준선을 세우는 것</a:t>
            </a:r>
            <a:endParaRPr lang="en-US" sz="3000" dirty="0"/>
          </a:p>
        </p:txBody>
      </p:sp>
      <p:sp>
        <p:nvSpPr>
          <p:cNvPr id="4" name="Column card 1"/>
          <p:cNvSpPr/>
          <p:nvPr/>
        </p:nvSpPr>
        <p:spPr>
          <a:xfrm>
            <a:off x="457200" y="1691640"/>
            <a:ext cx="5524348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5" name="Column text 1"/>
          <p:cNvSpPr txBox="1"/>
          <p:nvPr/>
        </p:nvSpPr>
        <p:spPr>
          <a:xfrm>
            <a:off x="777240" y="1965960"/>
            <a:ext cx="488426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b="1" dirty="0">
                <a:solidFill>
                  <a:schemeClr val="accent4"/>
                </a:solidFill>
              </a:rPr>
              <a:t>⚠️ 이번 분석의 한계점 (Limitations)</a:t>
            </a:r>
            <a:endParaRPr lang="en-US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1. External Variables 미포함</a:t>
            </a:r>
            <a:endParaRPr lang="en-US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기온, 습도, 공휴일, 산업생산 지수 등이 없어 인과관계를 단정할 수 없음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2. 전국 통합 데이터의 한계</a:t>
            </a:r>
            <a:endParaRPr lang="en-US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지역별(서울 vs 지방) 및 용도별(가정/산업/상업용) 차이 파악 불가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3. 기술통계 위주의 비교</a:t>
            </a:r>
            <a:endParaRPr lang="en-US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코로나 전후 차이는 구체적 인과 증명이 아닌 패턴 비교임</a:t>
            </a:r>
            <a:endParaRPr lang="en-US" dirty="0"/>
          </a:p>
        </p:txBody>
      </p:sp>
      <p:sp>
        <p:nvSpPr>
          <p:cNvPr id="6" name="Column card 2"/>
          <p:cNvSpPr/>
          <p:nvPr/>
        </p:nvSpPr>
        <p:spPr>
          <a:xfrm>
            <a:off x="6210148" y="1691640"/>
            <a:ext cx="5524348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94A3B8">
                <a:alpha val="35000"/>
              </a:srgbClr>
            </a:outerShdw>
          </a:effectLst>
        </p:spPr>
      </p:sp>
      <p:sp>
        <p:nvSpPr>
          <p:cNvPr id="7" name="Column text 2"/>
          <p:cNvSpPr txBox="1"/>
          <p:nvPr/>
        </p:nvSpPr>
        <p:spPr>
          <a:xfrm>
            <a:off x="6530188" y="1965960"/>
            <a:ext cx="488426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1400"/>
              </a:spcAft>
              <a:buNone/>
            </a:pPr>
            <a:r>
              <a:rPr lang="en-US" b="1" dirty="0">
                <a:solidFill>
                  <a:schemeClr val="accent2"/>
                </a:solidFill>
              </a:rPr>
              <a:t>🎯 초보자를 위한 최종 결론 (Conclusion)</a:t>
            </a:r>
            <a:endParaRPr lang="en-US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1. 데이터 기반 사고력 확보</a:t>
            </a:r>
            <a:endParaRPr lang="en-US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숫자와 그래프를 나열하는 대신, 질문을 던지고 Fact/Hypothesis를 구분함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2. 탄탄한 기준선(Baseline) 수립</a:t>
            </a:r>
            <a:endParaRPr lang="en-US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11년간 4,018일 전력 소비의 장기 흐름과 계절적 패턴을 명확히 자산화</a:t>
            </a:r>
            <a:endParaRPr lang="en-US" dirty="0"/>
          </a:p>
          <a:p>
            <a:pPr marL="0" indent="0">
              <a:spcAft>
                <a:spcPts val="30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3. 확장 가능성 확보</a:t>
            </a:r>
            <a:endParaRPr lang="en-US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향후 날씨, 공휴일, 경제 지표 결합 시 즉시 검증 가능한 데이터 토대 마련!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reaPowerDemand">
  <a:themeElements>
    <a:clrScheme name="KoreaPowerDemand">
      <a:dk1>
        <a:srgbClr val="0F172A"/>
      </a:dk1>
      <a:lt1>
        <a:srgbClr val="FFFFFF"/>
      </a:lt1>
      <a:dk2>
        <a:srgbClr val="334155"/>
      </a:dk2>
      <a:lt2>
        <a:srgbClr val="EEF2F7"/>
      </a:lt2>
      <a:accent1>
        <a:srgbClr val="4F46E5"/>
      </a:accent1>
      <a:accent2>
        <a:srgbClr val="0F766E"/>
      </a:accent2>
      <a:accent3>
        <a:srgbClr val="B45309"/>
      </a:accent3>
      <a:accent4>
        <a:srgbClr val="E11D48"/>
      </a:accent4>
      <a:accent5>
        <a:srgbClr val="2563EB"/>
      </a:accent5>
      <a:accent6>
        <a:srgbClr val="5EEAD4"/>
      </a:accent6>
      <a:hlink>
        <a:srgbClr val="2563EB"/>
      </a:hlink>
      <a:folHlink>
        <a:srgbClr val="7C3AED"/>
      </a:folHlink>
    </a:clrScheme>
    <a:fontScheme name="KoreaPowerDeman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1453</Words>
  <Application>Microsoft Office PowerPoint</Application>
  <PresentationFormat>와이드스크린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맑은 고딕</vt:lpstr>
      <vt:lpstr>Arial</vt:lpstr>
      <vt:lpstr>KoreaPowerDemand</vt:lpstr>
      <vt:lpstr>PowerPoint 프레젠테이션</vt:lpstr>
      <vt:lpstr>분석을 시작하기 전 알아야 할 4가지 핵심 개념</vt:lpstr>
      <vt:lpstr>데이터에게 던진 4가지 핵심 질문 (Research Questions)</vt:lpstr>
      <vt:lpstr>깨끗하게 다듬어진 4,018일간의 데이터 무결성 검증</vt:lpstr>
      <vt:lpstr>지난 11년간 우리나라 전력 수요는 8.51% 성장했습니다</vt:lpstr>
      <vt:lpstr>우리나라 전력 소비는 '겨울'과 '여름'에 우뚝 솟아오릅니다</vt:lpstr>
      <vt:lpstr>전일 대비 전력 사용량이 20% 이상 급변한 82일을 찾았습니다</vt:lpstr>
      <vt:lpstr>코로나 이후 하루 평균 전력 수요량이 4.35% 증가했습니다</vt:lpstr>
      <vt:lpstr>AI 도구를 효율적으로 쓰고 4단계로 엄격히 검증했습니다</vt:lpstr>
      <vt:lpstr>데이터 분석이 주는 진짜 가치: 한계를 알고 기준선을 세우는 것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초보자를 위한 데이터 입문서 - 대한민국 전력수요</dc:title>
  <dc:subject>PptxGenJS Presentation</dc:subject>
  <dc:creator>PptxGenJS</dc:creator>
  <cp:lastModifiedBy>bomi.grace@gmail.com</cp:lastModifiedBy>
  <cp:revision>3</cp:revision>
  <dcterms:created xsi:type="dcterms:W3CDTF">2026-10-21T00:19:48Z</dcterms:created>
  <dcterms:modified xsi:type="dcterms:W3CDTF">2026-10-21T00:42:07Z</dcterms:modified>
</cp:coreProperties>
</file>