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F2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463040"/>
            <a:ext cx="292608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초보자를 위한 데이터 입문서 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4183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rPr dirty="0" err="1"/>
              <a:t>대한민국</a:t>
            </a:r>
            <a:r>
              <a:rPr dirty="0"/>
              <a:t> </a:t>
            </a:r>
            <a:r>
              <a:rPr dirty="0" err="1"/>
              <a:t>전력수요</a:t>
            </a:r>
            <a:r>
              <a:rPr dirty="0"/>
              <a:t> </a:t>
            </a:r>
            <a:r>
              <a:rPr dirty="0" err="1"/>
              <a:t>데이터로</a:t>
            </a:r>
            <a:r>
              <a:rPr dirty="0"/>
              <a:t> </a:t>
            </a:r>
            <a:r>
              <a:rPr dirty="0" err="1"/>
              <a:t>배우는</a:t>
            </a:r>
            <a:br>
              <a:rPr dirty="0"/>
            </a:br>
            <a:r>
              <a:rPr dirty="0" err="1"/>
              <a:t>쉬운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분석과</a:t>
            </a:r>
            <a:r>
              <a:rPr dirty="0"/>
              <a:t> </a:t>
            </a:r>
            <a:r>
              <a:rPr dirty="0" err="1"/>
              <a:t>인사이트</a:t>
            </a:r>
            <a:endParaRPr dirty="0"/>
          </a:p>
          <a:p>
            <a:pPr>
              <a:defRPr sz="1600">
                <a:solidFill>
                  <a:srgbClr val="94A3B8"/>
                </a:solidFill>
                <a:latin typeface="Malgun Gothic"/>
              </a:defRPr>
            </a:pPr>
            <a:r>
              <a:rPr dirty="0"/>
              <a:t>11년(2015~2025) </a:t>
            </a:r>
            <a:r>
              <a:rPr dirty="0" err="1"/>
              <a:t>전력</a:t>
            </a:r>
            <a:r>
              <a:rPr dirty="0"/>
              <a:t> </a:t>
            </a:r>
            <a:r>
              <a:rPr dirty="0" err="1"/>
              <a:t>데이터를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</a:t>
            </a:r>
            <a:r>
              <a:rPr b="1" dirty="0">
                <a:solidFill>
                  <a:srgbClr val="8AF2E6"/>
                </a:solidFill>
              </a:rPr>
              <a:t>'</a:t>
            </a:r>
            <a:r>
              <a:rPr b="1" dirty="0" err="1">
                <a:solidFill>
                  <a:srgbClr val="8AF2E6"/>
                </a:solidFill>
              </a:rPr>
              <a:t>숫자</a:t>
            </a:r>
            <a:r>
              <a:rPr b="1" dirty="0">
                <a:solidFill>
                  <a:srgbClr val="8AF2E6"/>
                </a:solidFill>
              </a:rPr>
              <a:t> </a:t>
            </a:r>
            <a:r>
              <a:rPr b="1" dirty="0" err="1">
                <a:solidFill>
                  <a:srgbClr val="8AF2E6"/>
                </a:solidFill>
              </a:rPr>
              <a:t>뒤에</a:t>
            </a:r>
            <a:r>
              <a:rPr b="1" dirty="0">
                <a:solidFill>
                  <a:srgbClr val="8AF2E6"/>
                </a:solidFill>
              </a:rPr>
              <a:t> </a:t>
            </a:r>
            <a:r>
              <a:rPr b="1" dirty="0" err="1">
                <a:solidFill>
                  <a:srgbClr val="8AF2E6"/>
                </a:solidFill>
              </a:rPr>
              <a:t>숨겨진</a:t>
            </a:r>
            <a:r>
              <a:rPr b="1" dirty="0">
                <a:solidFill>
                  <a:srgbClr val="8AF2E6"/>
                </a:solidFill>
              </a:rPr>
              <a:t> </a:t>
            </a:r>
            <a:r>
              <a:rPr b="1" dirty="0" err="1">
                <a:solidFill>
                  <a:srgbClr val="8AF2E6"/>
                </a:solidFill>
              </a:rPr>
              <a:t>의미'</a:t>
            </a:r>
            <a:r>
              <a:rPr dirty="0" err="1"/>
              <a:t>를</a:t>
            </a:r>
            <a:r>
              <a:rPr dirty="0"/>
              <a:t> </a:t>
            </a:r>
            <a:r>
              <a:rPr dirty="0" err="1"/>
              <a:t>찾는</a:t>
            </a:r>
            <a:r>
              <a:rPr dirty="0"/>
              <a:t> </a:t>
            </a:r>
            <a:r>
              <a:rPr dirty="0" err="1"/>
              <a:t>방법을</a:t>
            </a:r>
            <a:r>
              <a:rPr dirty="0"/>
              <a:t> </a:t>
            </a:r>
            <a:r>
              <a:rPr dirty="0" err="1"/>
              <a:t>하나씩</a:t>
            </a:r>
            <a:r>
              <a:rPr dirty="0"/>
              <a:t> </a:t>
            </a:r>
            <a:r>
              <a:rPr dirty="0" err="1"/>
              <a:t>알아봅니다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97680"/>
            <a:ext cx="301752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38BDF8"/>
                </a:solidFill>
                <a:latin typeface="Malgun Gothic"/>
              </a:defRPr>
            </a:pPr>
            <a:r>
              <a:rPr dirty="0"/>
              <a:t>🎯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목표</a:t>
            </a:r>
            <a:endParaRPr dirty="0"/>
          </a:p>
          <a:p>
            <a:pPr algn="ctr">
              <a:defRPr sz="1100">
                <a:solidFill>
                  <a:srgbClr val="CBD5E1"/>
                </a:solidFill>
                <a:latin typeface="Malgun Gothic"/>
              </a:defRPr>
            </a:pPr>
            <a:r>
              <a:rPr dirty="0" err="1"/>
              <a:t>그래프</a:t>
            </a:r>
            <a:r>
              <a:rPr dirty="0"/>
              <a:t> </a:t>
            </a:r>
            <a:r>
              <a:rPr dirty="0" err="1"/>
              <a:t>그리기를</a:t>
            </a:r>
            <a:r>
              <a:rPr dirty="0"/>
              <a:t> </a:t>
            </a:r>
            <a:r>
              <a:rPr dirty="0" err="1"/>
              <a:t>넘어</a:t>
            </a:r>
            <a:endParaRPr lang="en-US" dirty="0"/>
          </a:p>
          <a:p>
            <a:pPr algn="ctr">
              <a:defRPr sz="1100">
                <a:solidFill>
                  <a:srgbClr val="CBD5E1"/>
                </a:solidFill>
                <a:latin typeface="Malgun Gothic"/>
              </a:defRPr>
            </a:pPr>
            <a:r>
              <a:rPr dirty="0"/>
              <a:t>'</a:t>
            </a:r>
            <a:r>
              <a:rPr dirty="0" err="1"/>
              <a:t>의미'를</a:t>
            </a:r>
            <a:r>
              <a:rPr dirty="0"/>
              <a:t> </a:t>
            </a:r>
            <a:r>
              <a:rPr dirty="0" err="1"/>
              <a:t>찾는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사고력</a:t>
            </a:r>
            <a:r>
              <a:rPr dirty="0"/>
              <a:t> </a:t>
            </a:r>
            <a:r>
              <a:rPr dirty="0" err="1"/>
              <a:t>형성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617720" y="4297680"/>
            <a:ext cx="301752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38BDF8"/>
                </a:solidFill>
                <a:latin typeface="Malgun Gothic"/>
              </a:defRPr>
            </a:pPr>
            <a:r>
              <a:rPr dirty="0"/>
              <a:t>📊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대상</a:t>
            </a:r>
            <a:endParaRPr dirty="0"/>
          </a:p>
          <a:p>
            <a:pPr algn="ctr">
              <a:defRPr sz="1100">
                <a:solidFill>
                  <a:srgbClr val="CBD5E1"/>
                </a:solidFill>
                <a:latin typeface="Malgun Gothic"/>
              </a:defRPr>
            </a:pPr>
            <a:r>
              <a:rPr dirty="0" err="1"/>
              <a:t>한국전력거래소</a:t>
            </a:r>
            <a:r>
              <a:rPr dirty="0"/>
              <a:t> 11년간(4,018일)</a:t>
            </a:r>
            <a:endParaRPr lang="en-US" dirty="0"/>
          </a:p>
          <a:p>
            <a:pPr algn="ctr">
              <a:defRPr sz="1100">
                <a:solidFill>
                  <a:srgbClr val="CBD5E1"/>
                </a:solidFill>
                <a:latin typeface="Malgun Gothic"/>
              </a:defRPr>
            </a:pPr>
            <a:r>
              <a:rPr dirty="0" err="1"/>
              <a:t>전국</a:t>
            </a:r>
            <a:r>
              <a:rPr dirty="0"/>
              <a:t> </a:t>
            </a:r>
            <a:r>
              <a:rPr dirty="0" err="1"/>
              <a:t>전력수요량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863840" y="4297680"/>
            <a:ext cx="301752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38BDF8"/>
                </a:solidFill>
                <a:latin typeface="Malgun Gothic"/>
              </a:defRPr>
            </a:pPr>
            <a:r>
              <a:rPr dirty="0"/>
              <a:t>🔍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접근</a:t>
            </a:r>
            <a:endParaRPr dirty="0"/>
          </a:p>
          <a:p>
            <a:pPr algn="ctr">
              <a:defRPr sz="1100">
                <a:solidFill>
                  <a:srgbClr val="CBD5E1"/>
                </a:solidFill>
                <a:latin typeface="Malgun Gothic"/>
              </a:defRPr>
            </a:pPr>
            <a:r>
              <a:rPr dirty="0" err="1"/>
              <a:t>관찰된</a:t>
            </a:r>
            <a:r>
              <a:rPr dirty="0"/>
              <a:t> </a:t>
            </a:r>
            <a:r>
              <a:rPr dirty="0" err="1"/>
              <a:t>사실</a:t>
            </a:r>
            <a:r>
              <a:rPr dirty="0"/>
              <a:t>(Fact)과</a:t>
            </a:r>
            <a:endParaRPr lang="en-US" dirty="0"/>
          </a:p>
          <a:p>
            <a:pPr algn="ctr">
              <a:defRPr sz="1100">
                <a:solidFill>
                  <a:srgbClr val="CBD5E1"/>
                </a:solidFill>
                <a:latin typeface="Malgun Gothic"/>
              </a:defRPr>
            </a:pPr>
            <a:r>
              <a:rPr dirty="0" err="1"/>
              <a:t>예측</a:t>
            </a:r>
            <a:r>
              <a:rPr dirty="0"/>
              <a:t>/</a:t>
            </a:r>
            <a:r>
              <a:rPr dirty="0" err="1"/>
              <a:t>해석</a:t>
            </a:r>
            <a:r>
              <a:rPr dirty="0"/>
              <a:t>(Hypothesis)의 </a:t>
            </a:r>
            <a:r>
              <a:rPr dirty="0" err="1"/>
              <a:t>엄격한</a:t>
            </a:r>
            <a:r>
              <a:rPr dirty="0"/>
              <a:t> </a:t>
            </a:r>
            <a:r>
              <a:rPr dirty="0" err="1"/>
              <a:t>구분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57200"/>
            <a:ext cx="2011680" cy="34747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STEP 1. 기초 개념 잡기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분석을 시작하기 전 알아야 할 4가지 핵심 개념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4F46E5"/>
                </a:solidFill>
                <a:latin typeface="Malgun Gothic"/>
              </a:defRPr>
            </a:pPr>
            <a:r>
              <a:rPr dirty="0"/>
              <a:t>1. </a:t>
            </a:r>
            <a:r>
              <a:rPr dirty="0" err="1"/>
              <a:t>시계열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(Time-Series)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endParaRPr lang="en-US" dirty="0"/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📌 </a:t>
            </a:r>
            <a:r>
              <a:rPr dirty="0" err="1"/>
              <a:t>시간</a:t>
            </a:r>
            <a:r>
              <a:rPr dirty="0"/>
              <a:t> </a:t>
            </a:r>
            <a:r>
              <a:rPr dirty="0" err="1"/>
              <a:t>흐름에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순서대로</a:t>
            </a:r>
            <a:r>
              <a:rPr dirty="0"/>
              <a:t> </a:t>
            </a:r>
            <a:r>
              <a:rPr dirty="0" err="1"/>
              <a:t>기록된</a:t>
            </a:r>
            <a:r>
              <a:rPr dirty="0"/>
              <a:t> </a:t>
            </a:r>
            <a:r>
              <a:rPr dirty="0" err="1"/>
              <a:t>데이터</a:t>
            </a:r>
            <a:endParaRPr dirty="0"/>
          </a:p>
          <a:p>
            <a:pPr>
              <a:defRPr sz="1200">
                <a:solidFill>
                  <a:srgbClr val="334155"/>
                </a:solidFill>
                <a:latin typeface="Malgun Gothic"/>
              </a:defRPr>
            </a:pPr>
            <a:r>
              <a:rPr dirty="0" err="1"/>
              <a:t>날짜별</a:t>
            </a:r>
            <a:r>
              <a:rPr dirty="0"/>
              <a:t> </a:t>
            </a:r>
            <a:r>
              <a:rPr dirty="0" err="1"/>
              <a:t>전력수요</a:t>
            </a:r>
            <a:r>
              <a:rPr dirty="0"/>
              <a:t>, </a:t>
            </a:r>
            <a:r>
              <a:rPr dirty="0" err="1"/>
              <a:t>일별</a:t>
            </a:r>
            <a:r>
              <a:rPr dirty="0"/>
              <a:t> </a:t>
            </a:r>
            <a:r>
              <a:rPr dirty="0" err="1"/>
              <a:t>주가</a:t>
            </a:r>
            <a:r>
              <a:rPr dirty="0"/>
              <a:t>, </a:t>
            </a:r>
            <a:r>
              <a:rPr dirty="0" err="1"/>
              <a:t>시간별</a:t>
            </a:r>
            <a:r>
              <a:rPr dirty="0"/>
              <a:t> </a:t>
            </a:r>
            <a:r>
              <a:rPr dirty="0" err="1"/>
              <a:t>기온처럼</a:t>
            </a:r>
            <a:r>
              <a:rPr dirty="0"/>
              <a:t> '</a:t>
            </a:r>
            <a:r>
              <a:rPr dirty="0" err="1"/>
              <a:t>시간</a:t>
            </a:r>
            <a:r>
              <a:rPr dirty="0"/>
              <a:t> </a:t>
            </a:r>
            <a:r>
              <a:rPr dirty="0" err="1"/>
              <a:t>순서'가</a:t>
            </a:r>
            <a:r>
              <a:rPr dirty="0"/>
              <a:t> </a:t>
            </a:r>
            <a:r>
              <a:rPr dirty="0" err="1"/>
              <a:t>핵심이</a:t>
            </a:r>
            <a:r>
              <a:rPr dirty="0"/>
              <a:t> </a:t>
            </a:r>
            <a:r>
              <a:rPr dirty="0" err="1"/>
              <a:t>되는</a:t>
            </a:r>
            <a:r>
              <a:rPr dirty="0"/>
              <a:t> </a:t>
            </a:r>
            <a:r>
              <a:rPr dirty="0" err="1"/>
              <a:t>데이터입니다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1645920"/>
            <a:ext cx="521208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4846320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D9488"/>
                </a:solidFill>
                <a:latin typeface="Malgun Gothic"/>
              </a:defRPr>
            </a:pPr>
            <a:r>
              <a:rPr dirty="0"/>
              <a:t>2.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집계</a:t>
            </a:r>
            <a:r>
              <a:rPr dirty="0"/>
              <a:t> (Aggregation)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endParaRPr lang="en-US" dirty="0"/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📌 </a:t>
            </a:r>
            <a:r>
              <a:rPr dirty="0" err="1"/>
              <a:t>작은</a:t>
            </a:r>
            <a:r>
              <a:rPr dirty="0"/>
              <a:t> </a:t>
            </a:r>
            <a:r>
              <a:rPr dirty="0" err="1"/>
              <a:t>단위</a:t>
            </a:r>
            <a:r>
              <a:rPr dirty="0"/>
              <a:t> </a:t>
            </a:r>
            <a:r>
              <a:rPr dirty="0" err="1"/>
              <a:t>데이터를</a:t>
            </a:r>
            <a:r>
              <a:rPr dirty="0"/>
              <a:t> 큰 </a:t>
            </a:r>
            <a:r>
              <a:rPr dirty="0" err="1"/>
              <a:t>단위로</a:t>
            </a:r>
            <a:r>
              <a:rPr dirty="0"/>
              <a:t> </a:t>
            </a:r>
            <a:r>
              <a:rPr dirty="0" err="1"/>
              <a:t>묶는</a:t>
            </a:r>
            <a:r>
              <a:rPr dirty="0"/>
              <a:t> </a:t>
            </a:r>
            <a:r>
              <a:rPr dirty="0" err="1"/>
              <a:t>계산</a:t>
            </a:r>
            <a:endParaRPr dirty="0"/>
          </a:p>
          <a:p>
            <a:pPr>
              <a:defRPr sz="1200">
                <a:solidFill>
                  <a:srgbClr val="334155"/>
                </a:solidFill>
                <a:latin typeface="Malgun Gothic"/>
              </a:defRPr>
            </a:pPr>
            <a:r>
              <a:rPr dirty="0" err="1"/>
              <a:t>시간별</a:t>
            </a:r>
            <a:r>
              <a:rPr dirty="0"/>
              <a:t> 24개 </a:t>
            </a:r>
            <a:r>
              <a:rPr dirty="0" err="1"/>
              <a:t>전력량을</a:t>
            </a:r>
            <a:r>
              <a:rPr dirty="0"/>
              <a:t> </a:t>
            </a:r>
            <a:r>
              <a:rPr dirty="0" err="1"/>
              <a:t>더해</a:t>
            </a:r>
            <a:r>
              <a:rPr dirty="0"/>
              <a:t> '</a:t>
            </a:r>
            <a:r>
              <a:rPr dirty="0" err="1"/>
              <a:t>일별</a:t>
            </a:r>
            <a:r>
              <a:rPr dirty="0"/>
              <a:t> </a:t>
            </a:r>
            <a:r>
              <a:rPr dirty="0" err="1"/>
              <a:t>총수요'를</a:t>
            </a:r>
            <a:r>
              <a:rPr dirty="0"/>
              <a:t> </a:t>
            </a:r>
            <a:r>
              <a:rPr dirty="0" err="1"/>
              <a:t>만들고</a:t>
            </a:r>
            <a:r>
              <a:rPr dirty="0"/>
              <a:t>, </a:t>
            </a:r>
            <a:r>
              <a:rPr dirty="0" err="1"/>
              <a:t>이를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'</a:t>
            </a:r>
            <a:r>
              <a:rPr dirty="0" err="1"/>
              <a:t>월별·연별'로</a:t>
            </a:r>
            <a:r>
              <a:rPr dirty="0"/>
              <a:t> </a:t>
            </a:r>
            <a:r>
              <a:rPr dirty="0" err="1"/>
              <a:t>합치는</a:t>
            </a:r>
            <a:r>
              <a:rPr dirty="0"/>
              <a:t> </a:t>
            </a:r>
            <a:r>
              <a:rPr dirty="0" err="1"/>
              <a:t>과정입니다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4069080"/>
            <a:ext cx="521208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4846320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D97706"/>
                </a:solidFill>
                <a:latin typeface="Malgun Gothic"/>
              </a:defRPr>
            </a:pPr>
            <a:r>
              <a:rPr dirty="0"/>
              <a:t>3. </a:t>
            </a:r>
            <a:r>
              <a:rPr dirty="0" err="1"/>
              <a:t>단위</a:t>
            </a:r>
            <a:r>
              <a:rPr dirty="0"/>
              <a:t> </a:t>
            </a:r>
            <a:r>
              <a:rPr dirty="0" err="1"/>
              <a:t>변환</a:t>
            </a:r>
            <a:r>
              <a:rPr dirty="0"/>
              <a:t> (Unit Conversion)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endParaRPr lang="en-US" dirty="0"/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📌 </a:t>
            </a:r>
            <a:r>
              <a:rPr dirty="0" err="1"/>
              <a:t>복잡한</a:t>
            </a:r>
            <a:r>
              <a:rPr dirty="0"/>
              <a:t> </a:t>
            </a:r>
            <a:r>
              <a:rPr dirty="0" err="1"/>
              <a:t>숫자를</a:t>
            </a:r>
            <a:r>
              <a:rPr dirty="0"/>
              <a:t> </a:t>
            </a:r>
            <a:r>
              <a:rPr dirty="0" err="1"/>
              <a:t>알기</a:t>
            </a:r>
            <a:r>
              <a:rPr dirty="0"/>
              <a:t> </a:t>
            </a:r>
            <a:r>
              <a:rPr dirty="0" err="1"/>
              <a:t>쉽게</a:t>
            </a:r>
            <a:r>
              <a:rPr dirty="0"/>
              <a:t> </a:t>
            </a:r>
            <a:r>
              <a:rPr dirty="0" err="1"/>
              <a:t>바꾸기</a:t>
            </a:r>
            <a:endParaRPr dirty="0"/>
          </a:p>
          <a:p>
            <a:pPr>
              <a:defRPr sz="1200">
                <a:solidFill>
                  <a:srgbClr val="334155"/>
                </a:solidFill>
                <a:latin typeface="Malgun Gothic"/>
              </a:defRPr>
            </a:pPr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단위인</a:t>
            </a:r>
            <a:r>
              <a:rPr dirty="0"/>
              <a:t> </a:t>
            </a:r>
            <a:r>
              <a:rPr dirty="0" err="1"/>
              <a:t>MWh를</a:t>
            </a:r>
            <a:r>
              <a:rPr dirty="0"/>
              <a:t> </a:t>
            </a:r>
            <a:r>
              <a:rPr dirty="0" err="1"/>
              <a:t>보고서용</a:t>
            </a:r>
            <a:r>
              <a:rPr dirty="0"/>
              <a:t> GWh(1 GWh = 1,000 MWh)로 </a:t>
            </a:r>
            <a:r>
              <a:rPr dirty="0" err="1"/>
              <a:t>바꾸어</a:t>
            </a:r>
            <a:r>
              <a:rPr dirty="0"/>
              <a:t> </a:t>
            </a:r>
            <a:r>
              <a:rPr dirty="0" err="1"/>
              <a:t>수치</a:t>
            </a:r>
            <a:r>
              <a:rPr dirty="0"/>
              <a:t> </a:t>
            </a:r>
            <a:r>
              <a:rPr dirty="0" err="1"/>
              <a:t>가독성을</a:t>
            </a:r>
            <a:r>
              <a:rPr dirty="0"/>
              <a:t> </a:t>
            </a:r>
            <a:r>
              <a:rPr dirty="0" err="1"/>
              <a:t>높입니다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0690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4069080"/>
            <a:ext cx="5212080" cy="91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4251960"/>
            <a:ext cx="4846320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E11D48"/>
                </a:solidFill>
                <a:latin typeface="Malgun Gothic"/>
              </a:defRPr>
            </a:pPr>
            <a:r>
              <a:rPr dirty="0"/>
              <a:t>4. Fact vs Hypothesis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endParaRPr lang="en-US" dirty="0"/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 </a:t>
            </a:r>
            <a:r>
              <a:rPr dirty="0" err="1"/>
              <a:t>증명된</a:t>
            </a:r>
            <a:r>
              <a:rPr dirty="0"/>
              <a:t> </a:t>
            </a:r>
            <a:r>
              <a:rPr dirty="0" err="1"/>
              <a:t>사실과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가설</a:t>
            </a:r>
            <a:r>
              <a:rPr dirty="0"/>
              <a:t> </a:t>
            </a:r>
            <a:r>
              <a:rPr dirty="0" err="1"/>
              <a:t>구분하기</a:t>
            </a:r>
            <a:endParaRPr dirty="0"/>
          </a:p>
          <a:p>
            <a:pPr>
              <a:defRPr sz="1200">
                <a:solidFill>
                  <a:srgbClr val="334155"/>
                </a:solidFill>
                <a:latin typeface="Malgun Gothic"/>
              </a:defRPr>
            </a:pPr>
            <a:r>
              <a:rPr dirty="0"/>
              <a:t>Fact: '2022년 </a:t>
            </a:r>
            <a:r>
              <a:rPr dirty="0" err="1"/>
              <a:t>전력사용량이</a:t>
            </a:r>
            <a:r>
              <a:rPr dirty="0"/>
              <a:t> </a:t>
            </a:r>
            <a:r>
              <a:rPr dirty="0" err="1"/>
              <a:t>최고였다</a:t>
            </a:r>
            <a:r>
              <a:rPr dirty="0"/>
              <a:t>.'</a:t>
            </a:r>
            <a:br>
              <a:rPr dirty="0"/>
            </a:br>
            <a:r>
              <a:rPr dirty="0"/>
              <a:t>Hypothesis: '</a:t>
            </a:r>
            <a:r>
              <a:rPr dirty="0" err="1"/>
              <a:t>여름에</a:t>
            </a:r>
            <a:r>
              <a:rPr dirty="0"/>
              <a:t> </a:t>
            </a:r>
            <a:r>
              <a:rPr dirty="0" err="1"/>
              <a:t>전기를</a:t>
            </a:r>
            <a:r>
              <a:rPr dirty="0"/>
              <a:t> </a:t>
            </a:r>
            <a:r>
              <a:rPr dirty="0" err="1"/>
              <a:t>많이</a:t>
            </a:r>
            <a:r>
              <a:rPr dirty="0"/>
              <a:t> 쓴 건 </a:t>
            </a:r>
            <a:r>
              <a:rPr dirty="0" err="1"/>
              <a:t>에어컨</a:t>
            </a:r>
            <a:r>
              <a:rPr dirty="0"/>
              <a:t> </a:t>
            </a:r>
            <a:r>
              <a:rPr dirty="0" err="1"/>
              <a:t>때문이다</a:t>
            </a:r>
            <a:r>
              <a:rPr dirty="0"/>
              <a:t>.'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57200"/>
            <a:ext cx="20116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STEP 2. 분석 목표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데이터에게 던진 4가지 핵심 질문 (Research Questions)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51460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4028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  <a:latin typeface="Malgun Gothic"/>
              </a:defRPr>
            </a:pPr>
            <a:r>
              <a:rPr dirty="0" err="1"/>
              <a:t>질문</a:t>
            </a:r>
            <a:r>
              <a:rPr dirty="0"/>
              <a:t> 1. </a:t>
            </a:r>
            <a:r>
              <a:rPr dirty="0" err="1"/>
              <a:t>장기</a:t>
            </a:r>
            <a:r>
              <a:rPr dirty="0"/>
              <a:t> </a:t>
            </a:r>
            <a:r>
              <a:rPr dirty="0" err="1"/>
              <a:t>추세</a:t>
            </a:r>
            <a:r>
              <a:rPr dirty="0"/>
              <a:t> (Long-term)</a:t>
            </a:r>
            <a:endParaRPr lang="en-US" dirty="0"/>
          </a:p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  <a:latin typeface="Malgun Gothic"/>
              </a:defRPr>
            </a:pPr>
            <a:endParaRPr dirty="0"/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❓ </a:t>
            </a:r>
            <a:r>
              <a:rPr dirty="0" err="1"/>
              <a:t>질문</a:t>
            </a:r>
            <a:r>
              <a:rPr dirty="0"/>
              <a:t>:</a:t>
            </a:r>
            <a:br>
              <a:rPr dirty="0"/>
            </a:br>
            <a:r>
              <a:rPr dirty="0" err="1"/>
              <a:t>지난</a:t>
            </a:r>
            <a:r>
              <a:rPr dirty="0"/>
              <a:t> 11년간 </a:t>
            </a:r>
            <a:r>
              <a:rPr dirty="0" err="1"/>
              <a:t>우리나라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전력</a:t>
            </a:r>
            <a:r>
              <a:rPr dirty="0"/>
              <a:t> </a:t>
            </a:r>
            <a:r>
              <a:rPr dirty="0" err="1"/>
              <a:t>소비량은</a:t>
            </a:r>
            <a:r>
              <a:rPr dirty="0"/>
              <a:t> </a:t>
            </a:r>
            <a:r>
              <a:rPr dirty="0" err="1"/>
              <a:t>꾸준히</a:t>
            </a:r>
            <a:r>
              <a:rPr dirty="0"/>
              <a:t> </a:t>
            </a:r>
            <a:r>
              <a:rPr dirty="0" err="1"/>
              <a:t>늘어났을까</a:t>
            </a:r>
            <a:r>
              <a:rPr dirty="0"/>
              <a:t>?</a:t>
            </a:r>
            <a:endParaRPr lang="en-US" dirty="0"/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endParaRPr dirty="0"/>
          </a:p>
          <a:p>
            <a:pPr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💡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방법</a:t>
            </a:r>
            <a:r>
              <a:rPr dirty="0"/>
              <a:t>:</a:t>
            </a:r>
            <a:br>
              <a:rPr dirty="0"/>
            </a:br>
            <a:r>
              <a:rPr dirty="0" err="1"/>
              <a:t>연도별</a:t>
            </a:r>
            <a:r>
              <a:rPr dirty="0"/>
              <a:t> 총 </a:t>
            </a:r>
            <a:r>
              <a:rPr dirty="0" err="1"/>
              <a:t>전력수요량과</a:t>
            </a:r>
            <a:r>
              <a:rPr dirty="0"/>
              <a:t> </a:t>
            </a:r>
            <a:r>
              <a:rPr dirty="0" err="1"/>
              <a:t>전년</a:t>
            </a:r>
            <a:r>
              <a:rPr dirty="0"/>
              <a:t> </a:t>
            </a:r>
            <a:r>
              <a:rPr dirty="0" err="1"/>
              <a:t>대비</a:t>
            </a:r>
            <a:r>
              <a:rPr dirty="0"/>
              <a:t> </a:t>
            </a:r>
            <a:r>
              <a:rPr dirty="0" err="1"/>
              <a:t>증가율을</a:t>
            </a:r>
            <a:r>
              <a:rPr dirty="0"/>
              <a:t> </a:t>
            </a:r>
            <a:r>
              <a:rPr dirty="0" err="1"/>
              <a:t>분석하여</a:t>
            </a:r>
            <a:r>
              <a:rPr dirty="0"/>
              <a:t> </a:t>
            </a:r>
            <a:r>
              <a:rPr dirty="0" err="1"/>
              <a:t>장기적</a:t>
            </a:r>
            <a:r>
              <a:rPr dirty="0"/>
              <a:t> </a:t>
            </a:r>
            <a:r>
              <a:rPr dirty="0" err="1"/>
              <a:t>성장</a:t>
            </a:r>
            <a:r>
              <a:rPr dirty="0"/>
              <a:t> </a:t>
            </a:r>
            <a:r>
              <a:rPr dirty="0" err="1"/>
              <a:t>패턴을</a:t>
            </a:r>
            <a:r>
              <a:rPr dirty="0"/>
              <a:t> </a:t>
            </a:r>
            <a:r>
              <a:rPr dirty="0" err="1"/>
              <a:t>확인합니다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29000" y="1645920"/>
            <a:ext cx="25146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24028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D9488"/>
                </a:solidFill>
                <a:latin typeface="Malgun Gothic"/>
              </a:defRPr>
            </a:pPr>
            <a:r>
              <a:rPr dirty="0" err="1"/>
              <a:t>질문</a:t>
            </a:r>
            <a:r>
              <a:rPr dirty="0"/>
              <a:t> 2. </a:t>
            </a:r>
            <a:r>
              <a:rPr dirty="0" err="1"/>
              <a:t>계절성</a:t>
            </a:r>
            <a:r>
              <a:rPr dirty="0"/>
              <a:t> (Seasonality)</a:t>
            </a:r>
            <a:endParaRPr lang="en-US" dirty="0"/>
          </a:p>
          <a:p>
            <a:pPr>
              <a:spcAft>
                <a:spcPts val="1000"/>
              </a:spcAft>
              <a:defRPr sz="1500" b="1">
                <a:solidFill>
                  <a:srgbClr val="0D9488"/>
                </a:solidFill>
                <a:latin typeface="Malgun Gothic"/>
              </a:defRPr>
            </a:pPr>
            <a:endParaRPr dirty="0"/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❓ </a:t>
            </a:r>
            <a:r>
              <a:rPr dirty="0" err="1"/>
              <a:t>질문</a:t>
            </a:r>
            <a:r>
              <a:rPr dirty="0"/>
              <a:t>:</a:t>
            </a:r>
            <a:br>
              <a:rPr dirty="0"/>
            </a:br>
            <a:r>
              <a:rPr dirty="0" err="1"/>
              <a:t>계절마다</a:t>
            </a:r>
            <a:r>
              <a:rPr dirty="0"/>
              <a:t>, </a:t>
            </a:r>
            <a:r>
              <a:rPr dirty="0" err="1"/>
              <a:t>월마다</a:t>
            </a:r>
            <a:r>
              <a:rPr dirty="0"/>
              <a:t> </a:t>
            </a:r>
            <a:r>
              <a:rPr dirty="0" err="1"/>
              <a:t>주기적으로</a:t>
            </a:r>
            <a:r>
              <a:rPr dirty="0"/>
              <a:t> </a:t>
            </a:r>
            <a:r>
              <a:rPr dirty="0" err="1"/>
              <a:t>반복되는</a:t>
            </a:r>
            <a:r>
              <a:rPr dirty="0"/>
              <a:t> </a:t>
            </a:r>
            <a:r>
              <a:rPr dirty="0" err="1"/>
              <a:t>전력</a:t>
            </a:r>
            <a:r>
              <a:rPr dirty="0"/>
              <a:t> </a:t>
            </a:r>
            <a:r>
              <a:rPr dirty="0" err="1"/>
              <a:t>소비</a:t>
            </a:r>
            <a:r>
              <a:rPr dirty="0"/>
              <a:t> </a:t>
            </a:r>
            <a:r>
              <a:rPr dirty="0" err="1"/>
              <a:t>패턴이</a:t>
            </a:r>
            <a:r>
              <a:rPr dirty="0"/>
              <a:t> </a:t>
            </a:r>
            <a:r>
              <a:rPr dirty="0" err="1"/>
              <a:t>있을까</a:t>
            </a:r>
            <a:r>
              <a:rPr dirty="0"/>
              <a:t>?</a:t>
            </a:r>
            <a:endParaRPr lang="en-US" dirty="0"/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endParaRPr dirty="0"/>
          </a:p>
          <a:p>
            <a:pPr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💡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방법</a:t>
            </a:r>
            <a:r>
              <a:rPr dirty="0"/>
              <a:t>:</a:t>
            </a:r>
            <a:br>
              <a:rPr dirty="0"/>
            </a:br>
            <a:r>
              <a:rPr dirty="0"/>
              <a:t>1월~12월 및 봄/</a:t>
            </a:r>
            <a:r>
              <a:rPr dirty="0" err="1"/>
              <a:t>여름</a:t>
            </a:r>
            <a:r>
              <a:rPr dirty="0"/>
              <a:t>/</a:t>
            </a:r>
            <a:r>
              <a:rPr dirty="0" err="1"/>
              <a:t>가을</a:t>
            </a:r>
            <a:r>
              <a:rPr dirty="0"/>
              <a:t>/</a:t>
            </a:r>
            <a:r>
              <a:rPr dirty="0" err="1"/>
              <a:t>겨울별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사용량을</a:t>
            </a:r>
            <a:r>
              <a:rPr dirty="0"/>
              <a:t> </a:t>
            </a:r>
            <a:r>
              <a:rPr dirty="0" err="1"/>
              <a:t>비교하여</a:t>
            </a:r>
            <a:r>
              <a:rPr dirty="0"/>
              <a:t> </a:t>
            </a:r>
            <a:r>
              <a:rPr dirty="0" err="1"/>
              <a:t>계절적</a:t>
            </a:r>
            <a:r>
              <a:rPr dirty="0"/>
              <a:t> </a:t>
            </a:r>
            <a:r>
              <a:rPr dirty="0" err="1"/>
              <a:t>피크를</a:t>
            </a:r>
            <a:r>
              <a:rPr dirty="0"/>
              <a:t> </a:t>
            </a:r>
            <a:r>
              <a:rPr dirty="0" err="1"/>
              <a:t>탐색합니다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251460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828800"/>
            <a:ext cx="224028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7706"/>
                </a:solidFill>
                <a:latin typeface="Malgun Gothic"/>
              </a:defRPr>
            </a:pPr>
            <a:r>
              <a:rPr dirty="0" err="1"/>
              <a:t>질문</a:t>
            </a:r>
            <a:r>
              <a:rPr dirty="0"/>
              <a:t> 3. </a:t>
            </a:r>
            <a:r>
              <a:rPr dirty="0" err="1"/>
              <a:t>급격한</a:t>
            </a:r>
            <a:r>
              <a:rPr dirty="0"/>
              <a:t> </a:t>
            </a:r>
            <a:r>
              <a:rPr dirty="0" err="1"/>
              <a:t>변화</a:t>
            </a:r>
            <a:r>
              <a:rPr dirty="0"/>
              <a:t> (Volatility)</a:t>
            </a:r>
            <a:endParaRPr lang="en-US" dirty="0"/>
          </a:p>
          <a:p>
            <a:pPr>
              <a:spcAft>
                <a:spcPts val="1000"/>
              </a:spcAft>
              <a:defRPr sz="1500" b="1">
                <a:solidFill>
                  <a:srgbClr val="D97706"/>
                </a:solidFill>
                <a:latin typeface="Malgun Gothic"/>
              </a:defRPr>
            </a:pPr>
            <a:endParaRPr dirty="0"/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❓ </a:t>
            </a:r>
            <a:r>
              <a:rPr dirty="0" err="1"/>
              <a:t>질문</a:t>
            </a:r>
            <a:r>
              <a:rPr dirty="0"/>
              <a:t>:</a:t>
            </a:r>
            <a:br>
              <a:rPr dirty="0"/>
            </a:br>
            <a:r>
              <a:rPr dirty="0" err="1"/>
              <a:t>전력</a:t>
            </a:r>
            <a:r>
              <a:rPr dirty="0"/>
              <a:t> </a:t>
            </a:r>
            <a:r>
              <a:rPr dirty="0" err="1"/>
              <a:t>수요가</a:t>
            </a:r>
            <a:r>
              <a:rPr dirty="0"/>
              <a:t> </a:t>
            </a:r>
            <a:r>
              <a:rPr dirty="0" err="1"/>
              <a:t>평소보다</a:t>
            </a:r>
            <a:r>
              <a:rPr dirty="0"/>
              <a:t> </a:t>
            </a:r>
            <a:r>
              <a:rPr dirty="0" err="1"/>
              <a:t>갑자기</a:t>
            </a:r>
            <a:r>
              <a:rPr dirty="0"/>
              <a:t> </a:t>
            </a:r>
            <a:r>
              <a:rPr dirty="0" err="1"/>
              <a:t>크게</a:t>
            </a:r>
            <a:r>
              <a:rPr dirty="0"/>
              <a:t> </a:t>
            </a:r>
            <a:r>
              <a:rPr dirty="0" err="1"/>
              <a:t>튀거나</a:t>
            </a:r>
            <a:r>
              <a:rPr dirty="0"/>
              <a:t> </a:t>
            </a:r>
            <a:r>
              <a:rPr dirty="0" err="1"/>
              <a:t>떨어진</a:t>
            </a:r>
            <a:r>
              <a:rPr dirty="0"/>
              <a:t> </a:t>
            </a:r>
            <a:r>
              <a:rPr dirty="0" err="1"/>
              <a:t>날은</a:t>
            </a:r>
            <a:r>
              <a:rPr dirty="0"/>
              <a:t> </a:t>
            </a:r>
            <a:r>
              <a:rPr dirty="0" err="1"/>
              <a:t>언제일까</a:t>
            </a:r>
            <a:r>
              <a:rPr dirty="0"/>
              <a:t>?</a:t>
            </a:r>
            <a:endParaRPr lang="en-US" dirty="0"/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endParaRPr dirty="0"/>
          </a:p>
          <a:p>
            <a:pPr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💡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방법</a:t>
            </a:r>
            <a:r>
              <a:rPr dirty="0"/>
              <a:t>:</a:t>
            </a:r>
            <a:br>
              <a:rPr dirty="0"/>
            </a:br>
            <a:r>
              <a:rPr dirty="0" err="1"/>
              <a:t>전일</a:t>
            </a:r>
            <a:r>
              <a:rPr dirty="0"/>
              <a:t> </a:t>
            </a:r>
            <a:r>
              <a:rPr dirty="0" err="1"/>
              <a:t>대비</a:t>
            </a:r>
            <a:r>
              <a:rPr dirty="0"/>
              <a:t> </a:t>
            </a:r>
            <a:r>
              <a:rPr dirty="0" err="1"/>
              <a:t>변화율의</a:t>
            </a:r>
            <a:r>
              <a:rPr dirty="0"/>
              <a:t> </a:t>
            </a:r>
            <a:r>
              <a:rPr dirty="0" err="1"/>
              <a:t>상위</a:t>
            </a:r>
            <a:r>
              <a:rPr dirty="0"/>
              <a:t> 1%와 </a:t>
            </a:r>
            <a:r>
              <a:rPr dirty="0" err="1"/>
              <a:t>하위</a:t>
            </a:r>
            <a:r>
              <a:rPr dirty="0"/>
              <a:t> 1% </a:t>
            </a:r>
            <a:r>
              <a:rPr dirty="0" err="1"/>
              <a:t>기준을</a:t>
            </a:r>
            <a:r>
              <a:rPr dirty="0"/>
              <a:t> </a:t>
            </a:r>
            <a:r>
              <a:rPr dirty="0" err="1"/>
              <a:t>적용해</a:t>
            </a:r>
            <a:r>
              <a:rPr dirty="0"/>
              <a:t> </a:t>
            </a:r>
            <a:r>
              <a:rPr dirty="0" err="1"/>
              <a:t>특이</a:t>
            </a:r>
            <a:r>
              <a:rPr dirty="0"/>
              <a:t> </a:t>
            </a:r>
            <a:r>
              <a:rPr dirty="0" err="1"/>
              <a:t>일자</a:t>
            </a:r>
            <a:r>
              <a:rPr dirty="0"/>
              <a:t>(82일)를 </a:t>
            </a:r>
            <a:r>
              <a:rPr dirty="0" err="1"/>
              <a:t>추출합니다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4592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23960" y="1645920"/>
            <a:ext cx="25146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1828800"/>
            <a:ext cx="224028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7C3AED"/>
                </a:solidFill>
                <a:latin typeface="Malgun Gothic"/>
              </a:defRPr>
            </a:pPr>
            <a:r>
              <a:rPr dirty="0" err="1"/>
              <a:t>질문</a:t>
            </a:r>
            <a:r>
              <a:rPr dirty="0"/>
              <a:t> 4. </a:t>
            </a:r>
            <a:r>
              <a:rPr dirty="0" err="1"/>
              <a:t>코로나</a:t>
            </a:r>
            <a:r>
              <a:rPr dirty="0"/>
              <a:t> </a:t>
            </a:r>
            <a:r>
              <a:rPr dirty="0" err="1"/>
              <a:t>영향</a:t>
            </a:r>
            <a:r>
              <a:rPr dirty="0"/>
              <a:t> (COVID-19)</a:t>
            </a:r>
            <a:endParaRPr lang="en-US" dirty="0"/>
          </a:p>
          <a:p>
            <a:pPr>
              <a:spcAft>
                <a:spcPts val="1000"/>
              </a:spcAft>
              <a:defRPr sz="1500" b="1">
                <a:solidFill>
                  <a:srgbClr val="7C3AED"/>
                </a:solidFill>
                <a:latin typeface="Malgun Gothic"/>
              </a:defRPr>
            </a:pPr>
            <a:endParaRPr dirty="0"/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❓ </a:t>
            </a:r>
            <a:r>
              <a:rPr dirty="0" err="1"/>
              <a:t>질문</a:t>
            </a:r>
            <a:r>
              <a:rPr dirty="0"/>
              <a:t>:</a:t>
            </a:r>
            <a:br>
              <a:rPr dirty="0"/>
            </a:br>
            <a:r>
              <a:rPr dirty="0"/>
              <a:t>코로나19 </a:t>
            </a:r>
            <a:r>
              <a:rPr dirty="0" err="1"/>
              <a:t>전후로</a:t>
            </a:r>
            <a:r>
              <a:rPr dirty="0"/>
              <a:t> </a:t>
            </a:r>
            <a:r>
              <a:rPr dirty="0" err="1"/>
              <a:t>우리나라</a:t>
            </a:r>
            <a:r>
              <a:rPr dirty="0"/>
              <a:t> </a:t>
            </a:r>
            <a:r>
              <a:rPr dirty="0" err="1"/>
              <a:t>전력</a:t>
            </a:r>
            <a:r>
              <a:rPr dirty="0"/>
              <a:t> </a:t>
            </a:r>
            <a:r>
              <a:rPr dirty="0" err="1"/>
              <a:t>소비</a:t>
            </a:r>
            <a:r>
              <a:rPr dirty="0"/>
              <a:t> </a:t>
            </a:r>
            <a:r>
              <a:rPr dirty="0" err="1"/>
              <a:t>습관이나</a:t>
            </a:r>
            <a:r>
              <a:rPr dirty="0"/>
              <a:t> </a:t>
            </a:r>
            <a:r>
              <a:rPr dirty="0" err="1"/>
              <a:t>변동폭이</a:t>
            </a:r>
            <a:r>
              <a:rPr dirty="0"/>
              <a:t> </a:t>
            </a:r>
            <a:r>
              <a:rPr dirty="0" err="1"/>
              <a:t>바뀌었을까</a:t>
            </a:r>
            <a:r>
              <a:rPr dirty="0"/>
              <a:t>?</a:t>
            </a:r>
            <a:endParaRPr lang="en-US" dirty="0"/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endParaRPr dirty="0"/>
          </a:p>
          <a:p>
            <a:pPr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💡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방법</a:t>
            </a:r>
            <a:r>
              <a:rPr dirty="0"/>
              <a:t>:</a:t>
            </a:r>
            <a:br>
              <a:rPr dirty="0"/>
            </a:br>
            <a:r>
              <a:rPr dirty="0" err="1"/>
              <a:t>코로나</a:t>
            </a:r>
            <a:r>
              <a:rPr dirty="0"/>
              <a:t> </a:t>
            </a:r>
            <a:r>
              <a:rPr dirty="0" err="1"/>
              <a:t>이전</a:t>
            </a:r>
            <a:r>
              <a:rPr dirty="0"/>
              <a:t>(15~19), </a:t>
            </a:r>
            <a:r>
              <a:rPr dirty="0" err="1"/>
              <a:t>영향기</a:t>
            </a:r>
            <a:r>
              <a:rPr dirty="0"/>
              <a:t>(20~21), </a:t>
            </a:r>
            <a:r>
              <a:rPr dirty="0" err="1"/>
              <a:t>이후</a:t>
            </a:r>
            <a:r>
              <a:rPr dirty="0"/>
              <a:t>(22~25) 3구간의 </a:t>
            </a:r>
            <a:r>
              <a:rPr dirty="0" err="1"/>
              <a:t>평균과</a:t>
            </a:r>
            <a:r>
              <a:rPr dirty="0"/>
              <a:t> </a:t>
            </a:r>
            <a:r>
              <a:rPr dirty="0" err="1"/>
              <a:t>변동성을</a:t>
            </a:r>
            <a:r>
              <a:rPr dirty="0"/>
              <a:t> </a:t>
            </a:r>
            <a:r>
              <a:rPr dirty="0" err="1"/>
              <a:t>비교합니다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57200"/>
            <a:ext cx="2011680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STEP 3. 데이터 품질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깨끗하게 다듬어진 4,018일간의 데이터 무결성 검증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4F46E5"/>
                </a:solidFill>
                <a:latin typeface="Malgun Gothic"/>
              </a:defRPr>
            </a:pPr>
            <a:r>
              <a:rPr dirty="0"/>
              <a:t>4,018일</a:t>
            </a:r>
          </a:p>
          <a:p>
            <a:pPr>
              <a:defRPr sz="1400" b="1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대상</a:t>
            </a:r>
            <a:r>
              <a:rPr dirty="0"/>
              <a:t> 총 </a:t>
            </a:r>
            <a:r>
              <a:rPr dirty="0" err="1"/>
              <a:t>기간</a:t>
            </a:r>
            <a:endParaRPr dirty="0"/>
          </a:p>
          <a:p>
            <a:pPr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dirty="0"/>
              <a:t>2015.01.01 ~ 2025.12.31 (11년)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43400" y="1645920"/>
            <a:ext cx="347472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7830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D9488"/>
                </a:solidFill>
                <a:latin typeface="Malgun Gothic"/>
              </a:defRPr>
            </a:pPr>
            <a:r>
              <a:rPr dirty="0"/>
              <a:t>0일 (100% </a:t>
            </a:r>
            <a:r>
              <a:rPr dirty="0" err="1"/>
              <a:t>성공</a:t>
            </a:r>
            <a:r>
              <a:rPr dirty="0"/>
              <a:t>)</a:t>
            </a:r>
          </a:p>
          <a:p>
            <a:pPr>
              <a:defRPr sz="1400" b="1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결측</a:t>
            </a:r>
            <a:r>
              <a:rPr dirty="0"/>
              <a:t> 및 </a:t>
            </a:r>
            <a:r>
              <a:rPr dirty="0" err="1"/>
              <a:t>중복</a:t>
            </a:r>
            <a:r>
              <a:rPr dirty="0"/>
              <a:t> </a:t>
            </a:r>
            <a:r>
              <a:rPr dirty="0" err="1"/>
              <a:t>날짜</a:t>
            </a:r>
            <a:endParaRPr dirty="0"/>
          </a:p>
          <a:p>
            <a:pPr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dirty="0" err="1"/>
              <a:t>빠진</a:t>
            </a:r>
            <a:r>
              <a:rPr dirty="0"/>
              <a:t> </a:t>
            </a:r>
            <a:r>
              <a:rPr dirty="0" err="1"/>
              <a:t>날짜가</a:t>
            </a:r>
            <a:r>
              <a:rPr dirty="0"/>
              <a:t> 단 </a:t>
            </a:r>
            <a:r>
              <a:rPr dirty="0" err="1"/>
              <a:t>하루도</a:t>
            </a:r>
            <a:r>
              <a:rPr dirty="0"/>
              <a:t> </a:t>
            </a:r>
            <a:r>
              <a:rPr dirty="0" err="1"/>
              <a:t>없는</a:t>
            </a:r>
            <a:r>
              <a:rPr dirty="0"/>
              <a:t> </a:t>
            </a:r>
            <a:r>
              <a:rPr dirty="0" err="1"/>
              <a:t>완벽한</a:t>
            </a:r>
            <a:r>
              <a:rPr dirty="0"/>
              <a:t> </a:t>
            </a:r>
            <a:r>
              <a:rPr dirty="0" err="1"/>
              <a:t>연속성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347472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7830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D97706"/>
                </a:solidFill>
                <a:latin typeface="Malgun Gothic"/>
              </a:defRPr>
            </a:pPr>
            <a:r>
              <a:rPr dirty="0"/>
              <a:t>GWh</a:t>
            </a:r>
          </a:p>
          <a:p>
            <a:pPr>
              <a:defRPr sz="1400" b="1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보고서</a:t>
            </a:r>
            <a:r>
              <a:rPr dirty="0"/>
              <a:t> </a:t>
            </a:r>
            <a:r>
              <a:rPr dirty="0" err="1"/>
              <a:t>표준</a:t>
            </a:r>
            <a:r>
              <a:rPr dirty="0"/>
              <a:t> </a:t>
            </a:r>
            <a:r>
              <a:rPr dirty="0" err="1"/>
              <a:t>단위</a:t>
            </a:r>
            <a:endParaRPr dirty="0"/>
          </a:p>
          <a:p>
            <a:pPr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dirty="0"/>
              <a:t>MWh ÷ 1,000 </a:t>
            </a:r>
            <a:r>
              <a:rPr dirty="0" err="1"/>
              <a:t>변환으로</a:t>
            </a:r>
            <a:r>
              <a:rPr dirty="0"/>
              <a:t> </a:t>
            </a:r>
            <a:r>
              <a:rPr dirty="0" err="1"/>
              <a:t>직관성</a:t>
            </a:r>
            <a:r>
              <a:rPr dirty="0"/>
              <a:t> </a:t>
            </a:r>
            <a:r>
              <a:rPr dirty="0" err="1"/>
              <a:t>확보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1069848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749039"/>
            <a:ext cx="1069848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F46E5"/>
                </a:solidFill>
                <a:latin typeface="Malgun Gothic"/>
              </a:defRPr>
            </a:pPr>
            <a:r>
              <a:t>💡 초보자를 위한 팁: 왜 데이터 정제가 중요할까요?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Malgun Gothic"/>
              </a:defRPr>
            </a:pPr>
            <a:r>
              <a:t>• 요리에 비유하면 데이터 전처리는 '채소를 깨끗이 씻고 다듬는 과정'과 같습니다.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Malgun Gothic"/>
              </a:defRPr>
            </a:pPr>
            <a:r>
              <a:t>• 날짜가 중간에 비어 있거나(결측치) 같은 날이 두 번 들어가면(중복치) 분석 결과 전체가 오염됩니다.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Malgun Gothic"/>
              </a:defRPr>
            </a:pPr>
            <a:r>
              <a:t>• 본 프로젝트는 파이프라인 코드(preprocess_power_demand.py)를 통해 11년간 4,018일 데이터의 결측 0건, 집계 오차 0%를 수치로 완벽 검증했습니다.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57200"/>
            <a:ext cx="2011680" cy="34747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RESULT 1. 장기 추세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지난 11년간 우리나라 전력 수요는 8.51% 성장했습니다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840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84048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4748B"/>
                </a:solidFill>
                <a:latin typeface="Malgun Gothic"/>
              </a:defRPr>
            </a:pPr>
            <a:r>
              <a:t>11년 성장률</a:t>
            </a:r>
          </a:p>
          <a:p>
            <a:pPr>
              <a:spcAft>
                <a:spcPts val="1200"/>
              </a:spcAft>
              <a:defRPr sz="4400" b="1">
                <a:solidFill>
                  <a:srgbClr val="4F46E5"/>
                </a:solidFill>
                <a:latin typeface="Malgun Gothic"/>
              </a:defRPr>
            </a:pPr>
            <a:r>
              <a:t>+8.51%</a:t>
            </a:r>
          </a:p>
          <a:p>
            <a:pPr>
              <a:defRPr sz="1200">
                <a:solidFill>
                  <a:srgbClr val="64748B"/>
                </a:solidFill>
                <a:latin typeface="Malgun Gothic"/>
              </a:defRPr>
            </a:pPr>
            <a:r>
              <a:t>• 2015년 연간 수요:</a:t>
            </a:r>
          </a:p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  520,746 GWh</a:t>
            </a:r>
          </a:p>
          <a:p>
            <a:pPr>
              <a:defRPr sz="1200">
                <a:solidFill>
                  <a:srgbClr val="64748B"/>
                </a:solidFill>
                <a:latin typeface="Malgun Gothic"/>
              </a:defRPr>
            </a:pPr>
            <a:r>
              <a:t>• 2025년 연간 수요:</a:t>
            </a:r>
          </a:p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  565,049 GWh</a:t>
            </a:r>
          </a:p>
          <a:p>
            <a:pPr>
              <a:defRPr sz="1200">
                <a:solidFill>
                  <a:srgbClr val="64748B"/>
                </a:solidFill>
                <a:latin typeface="Malgun Gothic"/>
              </a:defRPr>
            </a:pPr>
            <a:r>
              <a:t>• 역대 최고 기록(2022년):</a:t>
            </a:r>
          </a:p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  574,426 GWh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45920"/>
            <a:ext cx="65836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46320" y="1645920"/>
            <a:ext cx="658368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1850484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4F46E5"/>
                </a:solidFill>
                <a:latin typeface="Malgun Gothic"/>
              </a:defRPr>
            </a:pPr>
            <a:r>
              <a:rPr dirty="0"/>
              <a:t>📌 </a:t>
            </a:r>
            <a:r>
              <a:rPr dirty="0" err="1"/>
              <a:t>관찰된</a:t>
            </a:r>
            <a:r>
              <a:rPr dirty="0"/>
              <a:t> </a:t>
            </a:r>
            <a:r>
              <a:rPr dirty="0" err="1"/>
              <a:t>사실</a:t>
            </a:r>
            <a:r>
              <a:rPr dirty="0"/>
              <a:t> (Fact)</a:t>
            </a:r>
          </a:p>
          <a:p>
            <a:pPr>
              <a:defRPr sz="1200">
                <a:solidFill>
                  <a:srgbClr val="334155"/>
                </a:solidFill>
                <a:latin typeface="Malgun Gothic"/>
              </a:defRPr>
            </a:pP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전력</a:t>
            </a:r>
            <a:r>
              <a:rPr dirty="0"/>
              <a:t> </a:t>
            </a:r>
            <a:r>
              <a:rPr dirty="0" err="1"/>
              <a:t>소비량은</a:t>
            </a:r>
            <a:r>
              <a:rPr dirty="0"/>
              <a:t> 2015년 </a:t>
            </a:r>
            <a:r>
              <a:rPr dirty="0" err="1"/>
              <a:t>대비</a:t>
            </a:r>
            <a:r>
              <a:rPr dirty="0"/>
              <a:t> 2025년에 약 8.51% </a:t>
            </a:r>
            <a:r>
              <a:rPr dirty="0" err="1"/>
              <a:t>증가했습니다</a:t>
            </a:r>
            <a:r>
              <a:rPr dirty="0"/>
              <a:t>. 2022년에는 574,426 </a:t>
            </a:r>
            <a:r>
              <a:rPr dirty="0" err="1"/>
              <a:t>GWh로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기간</a:t>
            </a:r>
            <a:r>
              <a:rPr dirty="0"/>
              <a:t> 중 </a:t>
            </a:r>
            <a:r>
              <a:rPr dirty="0" err="1"/>
              <a:t>최고치를</a:t>
            </a:r>
            <a:r>
              <a:rPr dirty="0"/>
              <a:t> </a:t>
            </a:r>
            <a:r>
              <a:rPr dirty="0" err="1"/>
              <a:t>기록했습니다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3154680"/>
            <a:ext cx="65836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46320" y="3154680"/>
            <a:ext cx="658368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0" y="3359244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D9488"/>
                </a:solidFill>
                <a:latin typeface="Malgun Gothic"/>
              </a:defRPr>
            </a:pPr>
            <a:r>
              <a:t>📈 단순 직선 성장이 아님</a:t>
            </a:r>
          </a:p>
          <a:p>
            <a:pPr>
              <a:defRPr sz="1200">
                <a:solidFill>
                  <a:srgbClr val="334155"/>
                </a:solidFill>
                <a:latin typeface="Malgun Gothic"/>
              </a:defRPr>
            </a:pPr>
            <a:r>
              <a:t>매년 꾸준히 오르기만 한 것은 아닙니다. 2019년과 2020년에는 전년 대비 수요가 감소했고, 2021~2022년에 다시 급회복하는 '감소-회복-정체' 패턴을 보였습니다.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4663440"/>
            <a:ext cx="65836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46320" y="4663440"/>
            <a:ext cx="658368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4868004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💡 초보자를 위한 해석 한계</a:t>
            </a:r>
          </a:p>
          <a:p>
            <a:pPr>
              <a:defRPr sz="1200">
                <a:solidFill>
                  <a:srgbClr val="334155"/>
                </a:solidFill>
                <a:latin typeface="Malgun Gothic"/>
              </a:defRPr>
            </a:pPr>
            <a:r>
              <a:t>전력 소비가 늘었다고 해서 무조건 경제가 성장했다고만 볼 수는 없습니다. 산업 구조 변화, 기후 변화 등 추가 데이터를 결합해야 정확한 원인을 알 수 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57200"/>
            <a:ext cx="2011680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RESULT 2. 계절성 패턴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우리나라 전력 소비는 '겨울'과 '여름'에 우뚝 솟아오릅니다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51460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563EB"/>
                </a:solidFill>
                <a:latin typeface="Malgun Gothic"/>
              </a:defRPr>
            </a:pPr>
            <a:r>
              <a:rPr dirty="0"/>
              <a:t>❄️ </a:t>
            </a:r>
            <a:r>
              <a:rPr dirty="0" err="1"/>
              <a:t>겨울</a:t>
            </a:r>
            <a:r>
              <a:rPr dirty="0"/>
              <a:t> (Winter)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1위 (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높음</a:t>
            </a:r>
            <a:r>
              <a:rPr dirty="0"/>
              <a:t>)</a:t>
            </a:r>
          </a:p>
          <a:p>
            <a:pPr>
              <a:defRPr sz="1100">
                <a:solidFill>
                  <a:srgbClr val="334155"/>
                </a:solidFill>
                <a:latin typeface="Malgun Gothic"/>
              </a:defRPr>
            </a:pPr>
            <a:r>
              <a:rPr dirty="0"/>
              <a:t>1월 </a:t>
            </a:r>
            <a:r>
              <a:rPr dirty="0" err="1"/>
              <a:t>피크</a:t>
            </a:r>
            <a:br>
              <a:rPr dirty="0"/>
            </a:br>
            <a:r>
              <a:rPr dirty="0" err="1"/>
              <a:t>난방기구</a:t>
            </a:r>
            <a:r>
              <a:rPr dirty="0"/>
              <a:t> </a:t>
            </a:r>
            <a:r>
              <a:rPr dirty="0" err="1"/>
              <a:t>가동</a:t>
            </a:r>
            <a:r>
              <a:rPr dirty="0"/>
              <a:t> </a:t>
            </a:r>
            <a:r>
              <a:rPr dirty="0" err="1"/>
              <a:t>급증</a:t>
            </a:r>
            <a:r>
              <a:rPr dirty="0"/>
              <a:t> </a:t>
            </a:r>
            <a:r>
              <a:rPr dirty="0" err="1"/>
              <a:t>추정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146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29000" y="1645920"/>
            <a:ext cx="2514600" cy="91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E11D48"/>
                </a:solidFill>
                <a:latin typeface="Malgun Gothic"/>
              </a:defRPr>
            </a:pPr>
            <a:r>
              <a:t>☀️ 여름 (Summer)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2위 (두 번째)</a:t>
            </a:r>
          </a:p>
          <a:p>
            <a:pPr>
              <a:defRPr sz="1100">
                <a:solidFill>
                  <a:srgbClr val="334155"/>
                </a:solidFill>
                <a:latin typeface="Malgun Gothic"/>
              </a:defRPr>
            </a:pPr>
            <a:r>
              <a:t>8월 피크</a:t>
            </a:r>
            <a:br/>
            <a:r>
              <a:t>냉방(에어컨) 수요 급증 추정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5146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251460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78308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D97706"/>
                </a:solidFill>
                <a:latin typeface="Malgun Gothic"/>
              </a:defRPr>
            </a:pPr>
            <a:r>
              <a:t>🍂 가을 (Autumn)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3위 (상대적 낮음)</a:t>
            </a:r>
          </a:p>
          <a:p>
            <a:pPr>
              <a:defRPr sz="1100">
                <a:solidFill>
                  <a:srgbClr val="334155"/>
                </a:solidFill>
                <a:latin typeface="Malgun Gothic"/>
              </a:defRPr>
            </a:pPr>
            <a:r>
              <a:t>10월 저점</a:t>
            </a:r>
            <a:br/>
            <a:r>
              <a:t>선선한 기후로 전력 안정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45920"/>
            <a:ext cx="25146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23960" y="1645920"/>
            <a:ext cx="25146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178308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D9488"/>
                </a:solidFill>
                <a:latin typeface="Malgun Gothic"/>
              </a:defRPr>
            </a:pPr>
            <a:r>
              <a:t>🌱 봄 (Spring)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4위 (가장 낮음)</a:t>
            </a:r>
          </a:p>
          <a:p>
            <a:pPr>
              <a:defRPr sz="1100">
                <a:solidFill>
                  <a:srgbClr val="334155"/>
                </a:solidFill>
                <a:latin typeface="Malgun Gothic"/>
              </a:defRPr>
            </a:pPr>
            <a:r>
              <a:t>5월 저점</a:t>
            </a:r>
            <a:br/>
            <a:r>
              <a:t>온화한 기후로 전력 최저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1069848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180789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D9488"/>
                </a:solidFill>
                <a:latin typeface="Malgun Gothic"/>
              </a:defRPr>
            </a:pPr>
            <a:r>
              <a:rPr dirty="0"/>
              <a:t>🔍 </a:t>
            </a:r>
            <a:r>
              <a:rPr dirty="0" err="1"/>
              <a:t>Fact와</a:t>
            </a:r>
            <a:r>
              <a:rPr dirty="0"/>
              <a:t> Hypothesis </a:t>
            </a:r>
            <a:r>
              <a:rPr dirty="0" err="1"/>
              <a:t>구분하기</a:t>
            </a:r>
            <a:r>
              <a:rPr dirty="0"/>
              <a:t> </a:t>
            </a:r>
            <a:r>
              <a:rPr dirty="0" err="1"/>
              <a:t>연습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Fact (</a:t>
            </a:r>
            <a:r>
              <a:rPr dirty="0" err="1"/>
              <a:t>관찰된</a:t>
            </a:r>
            <a:r>
              <a:rPr dirty="0"/>
              <a:t> </a:t>
            </a:r>
            <a:r>
              <a:rPr dirty="0" err="1"/>
              <a:t>사실</a:t>
            </a:r>
            <a:r>
              <a:rPr dirty="0"/>
              <a:t>): 1월과 8월의 </a:t>
            </a:r>
            <a:r>
              <a:rPr dirty="0" err="1"/>
              <a:t>일평균</a:t>
            </a:r>
            <a:r>
              <a:rPr dirty="0"/>
              <a:t> </a:t>
            </a:r>
            <a:r>
              <a:rPr dirty="0" err="1"/>
              <a:t>전력수요량이</a:t>
            </a:r>
            <a:r>
              <a:rPr dirty="0"/>
              <a:t> 5월과 10월보다 </a:t>
            </a:r>
            <a:r>
              <a:rPr dirty="0" err="1"/>
              <a:t>현저히</a:t>
            </a:r>
            <a:r>
              <a:rPr dirty="0"/>
              <a:t> </a:t>
            </a:r>
            <a:r>
              <a:rPr dirty="0" err="1"/>
              <a:t>높다</a:t>
            </a:r>
            <a:r>
              <a:rPr dirty="0"/>
              <a:t>. (</a:t>
            </a:r>
            <a:r>
              <a:rPr dirty="0" err="1"/>
              <a:t>수치</a:t>
            </a:r>
            <a:r>
              <a:rPr dirty="0"/>
              <a:t> </a:t>
            </a:r>
            <a:r>
              <a:rPr dirty="0" err="1"/>
              <a:t>증명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Hypothesis (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가설</a:t>
            </a:r>
            <a:r>
              <a:rPr dirty="0"/>
              <a:t>): </a:t>
            </a:r>
            <a:r>
              <a:rPr dirty="0" err="1"/>
              <a:t>겨울철</a:t>
            </a:r>
            <a:r>
              <a:rPr dirty="0"/>
              <a:t> </a:t>
            </a:r>
            <a:r>
              <a:rPr dirty="0" err="1"/>
              <a:t>전기난방과</a:t>
            </a:r>
            <a:r>
              <a:rPr dirty="0"/>
              <a:t> </a:t>
            </a:r>
            <a:r>
              <a:rPr dirty="0" err="1"/>
              <a:t>여름철</a:t>
            </a:r>
            <a:r>
              <a:rPr dirty="0"/>
              <a:t> </a:t>
            </a:r>
            <a:r>
              <a:rPr dirty="0" err="1"/>
              <a:t>에어컨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 </a:t>
            </a:r>
            <a:r>
              <a:rPr dirty="0" err="1"/>
              <a:t>때문일</a:t>
            </a:r>
            <a:r>
              <a:rPr dirty="0"/>
              <a:t> </a:t>
            </a:r>
            <a:r>
              <a:rPr dirty="0" err="1"/>
              <a:t>것이다</a:t>
            </a:r>
            <a:r>
              <a:rPr dirty="0"/>
              <a:t>.</a:t>
            </a:r>
          </a:p>
          <a:p>
            <a:pPr>
              <a:defRPr sz="1200">
                <a:solidFill>
                  <a:srgbClr val="E11D48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주의</a:t>
            </a:r>
            <a:r>
              <a:rPr dirty="0"/>
              <a:t>: 본 </a:t>
            </a:r>
            <a:r>
              <a:rPr dirty="0" err="1"/>
              <a:t>데이터에는</a:t>
            </a:r>
            <a:r>
              <a:rPr dirty="0"/>
              <a:t> '</a:t>
            </a:r>
            <a:r>
              <a:rPr dirty="0" err="1"/>
              <a:t>기온'이나</a:t>
            </a:r>
            <a:r>
              <a:rPr dirty="0"/>
              <a:t> '</a:t>
            </a:r>
            <a:r>
              <a:rPr dirty="0" err="1"/>
              <a:t>용도별</a:t>
            </a:r>
            <a:r>
              <a:rPr dirty="0"/>
              <a:t>(</a:t>
            </a:r>
            <a:r>
              <a:rPr dirty="0" err="1"/>
              <a:t>가정</a:t>
            </a:r>
            <a:r>
              <a:rPr dirty="0"/>
              <a:t>/</a:t>
            </a:r>
            <a:r>
              <a:rPr dirty="0" err="1"/>
              <a:t>산업용</a:t>
            </a:r>
            <a:r>
              <a:rPr dirty="0"/>
              <a:t>)' </a:t>
            </a:r>
            <a:r>
              <a:rPr dirty="0" err="1"/>
              <a:t>데이터가</a:t>
            </a:r>
            <a:r>
              <a:rPr dirty="0"/>
              <a:t> </a:t>
            </a:r>
            <a:r>
              <a:rPr dirty="0" err="1"/>
              <a:t>없으므로</a:t>
            </a:r>
            <a:r>
              <a:rPr dirty="0"/>
              <a:t> </a:t>
            </a:r>
            <a:r>
              <a:rPr dirty="0" err="1"/>
              <a:t>가설을</a:t>
            </a:r>
            <a:r>
              <a:rPr dirty="0"/>
              <a:t> </a:t>
            </a:r>
            <a:r>
              <a:rPr dirty="0" err="1"/>
              <a:t>확정하면</a:t>
            </a:r>
            <a:r>
              <a:rPr dirty="0"/>
              <a:t> 안 </a:t>
            </a:r>
            <a:r>
              <a:rPr dirty="0" err="1"/>
              <a:t>됩니다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57200"/>
            <a:ext cx="2011680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RESULT 3. 급격한 변화 탐색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전일 대비 전력 사용량이 20% 이상 급변한 82일을 찾았습니다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91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11D48"/>
                </a:solidFill>
                <a:latin typeface="Malgun Gothic"/>
              </a:defRPr>
            </a:pPr>
            <a:r>
              <a:t>🚀 최대 증가일: +24.32%</a:t>
            </a:r>
          </a:p>
          <a:p>
            <a:pPr>
              <a:defRPr sz="1300">
                <a:solidFill>
                  <a:srgbClr val="0F172A"/>
                </a:solidFill>
                <a:latin typeface="Malgun Gothic"/>
              </a:defRPr>
            </a:pPr>
            <a:r>
              <a:t>• 날짜: 2024년 4월 15일 (월요일)</a:t>
            </a:r>
          </a:p>
          <a:p>
            <a:pPr>
              <a:defRPr sz="1200">
                <a:solidFill>
                  <a:srgbClr val="64748B"/>
                </a:solidFill>
                <a:latin typeface="Malgun Gothic"/>
              </a:defRPr>
            </a:pPr>
            <a:r>
              <a:t>• 원인 추정: 주말(휴일) 이후 월요일 조업 재개 및 연휴 여파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  <a:latin typeface="Malgun Gothic"/>
              </a:defRPr>
            </a:pPr>
            <a:r>
              <a:t>📉 최대 감소일: -22.11%</a:t>
            </a:r>
          </a:p>
          <a:p>
            <a:pPr>
              <a:defRPr sz="1300">
                <a:solidFill>
                  <a:srgbClr val="0F172A"/>
                </a:solidFill>
                <a:latin typeface="Malgun Gothic"/>
              </a:defRPr>
            </a:pPr>
            <a:r>
              <a:t>• 날짜: 2019년 9월 12일 (추석 연휴 시작일)</a:t>
            </a:r>
          </a:p>
          <a:p>
            <a:pPr>
              <a:defRPr sz="1200">
                <a:solidFill>
                  <a:srgbClr val="64748B"/>
                </a:solidFill>
                <a:latin typeface="Malgun Gothic"/>
              </a:defRPr>
            </a:pPr>
            <a:r>
              <a:t>• 원인 추정: 명절 연휴 시작으로 인한 공장 조업 중단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1069848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070495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D97706"/>
                </a:solidFill>
                <a:latin typeface="Malgun Gothic"/>
              </a:defRPr>
            </a:pPr>
            <a:r>
              <a:t>💡 '분위수(Quantile)' 기준이란 무엇일까요?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algun Gothic"/>
              </a:defRPr>
            </a:pPr>
            <a:r>
              <a:t>• 주관적으로 '10% 이상 변하면 이상치'라고 정하는 대신, 4,018일 전체 데이터의 변화율을 크기순으로 줄 세웠습니다.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algun Gothic"/>
              </a:defRPr>
            </a:pPr>
            <a:r>
              <a:t>• 상위 1%(증가폭 최상위 41일) 기준은 +20.69% 이상, 하위 1%(감소폭 최상위 41일) 기준은 -13.24% 이하였습니다.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algun Gothic"/>
              </a:defRPr>
            </a:pPr>
            <a:r>
              <a:t>• 객관적 통계 기준을 적용하여 총 82일의 '급변 후보일'을 정밀하게 가려냈습니다.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57200"/>
            <a:ext cx="224735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dirty="0"/>
              <a:t>RESULT 4. 코로나19 </a:t>
            </a:r>
            <a:r>
              <a:rPr dirty="0" err="1"/>
              <a:t>전후</a:t>
            </a:r>
            <a:r>
              <a:rPr dirty="0"/>
              <a:t> </a:t>
            </a:r>
            <a:r>
              <a:rPr dirty="0" err="1"/>
              <a:t>비교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코로나 이후 하루 평균 전력 수요량이 4.35% 증가했습니다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914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4155"/>
                </a:solidFill>
                <a:latin typeface="Malgun Gothic"/>
              </a:defRPr>
            </a:pPr>
            <a:r>
              <a:t>1. 코로나 이전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2015~2019 (5년)</a:t>
            </a:r>
          </a:p>
          <a:p>
            <a:pPr>
              <a:spcAft>
                <a:spcPts val="800"/>
              </a:spcAft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1,491 GWh / 일</a:t>
            </a:r>
          </a:p>
          <a:p>
            <a:pPr>
              <a:defRPr sz="1100">
                <a:solidFill>
                  <a:srgbClr val="334155"/>
                </a:solidFill>
                <a:latin typeface="Malgun Gothic"/>
              </a:defRPr>
            </a:pPr>
            <a:r>
              <a:t>표준편차: 156.99 GWh</a:t>
            </a:r>
            <a:br/>
            <a:r>
              <a:t>안정적인 전력 소비 흐름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43400" y="1645920"/>
            <a:ext cx="347472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8288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  <a:latin typeface="Malgun Gothic"/>
              </a:defRPr>
            </a:pPr>
            <a:r>
              <a:t>2. 코로나 영향기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2020~2021 (2년)</a:t>
            </a:r>
          </a:p>
          <a:p>
            <a:pPr>
              <a:spcAft>
                <a:spcPts val="800"/>
              </a:spcAft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1,498 GWh / 일</a:t>
            </a:r>
          </a:p>
          <a:p>
            <a:pPr>
              <a:defRPr sz="1100">
                <a:solidFill>
                  <a:srgbClr val="334155"/>
                </a:solidFill>
                <a:latin typeface="Malgun Gothic"/>
              </a:defRPr>
            </a:pPr>
            <a:r>
              <a:t>이전 대비 +0.47% 소폭 상승</a:t>
            </a:r>
            <a:br/>
            <a:r>
              <a:t>재택근무 및 조업 변동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3474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8288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  <a:latin typeface="Malgun Gothic"/>
              </a:defRPr>
            </a:pPr>
            <a:r>
              <a:t>3. 코로나 이후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2022~2025 (4년)</a:t>
            </a:r>
          </a:p>
          <a:p>
            <a:pPr>
              <a:spcAft>
                <a:spcPts val="800"/>
              </a:spcAft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1,556 GWh / 일</a:t>
            </a:r>
          </a:p>
          <a:p>
            <a:pPr>
              <a:defRPr sz="1100">
                <a:solidFill>
                  <a:srgbClr val="334155"/>
                </a:solidFill>
                <a:latin typeface="Malgun Gothic"/>
              </a:defRPr>
            </a:pPr>
            <a:r>
              <a:t>이전 대비 +4.35% 본격 상승</a:t>
            </a:r>
            <a:br/>
            <a:r>
              <a:t>표준편차 183.00 GWh로 확대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1069848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784576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7C3AED"/>
                </a:solidFill>
                <a:latin typeface="Malgun Gothic"/>
              </a:defRPr>
            </a:pPr>
            <a:r>
              <a:rPr dirty="0"/>
              <a:t>💡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인사이트</a:t>
            </a:r>
            <a:r>
              <a:rPr dirty="0"/>
              <a:t>: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상승과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'</a:t>
            </a:r>
            <a:r>
              <a:rPr dirty="0" err="1"/>
              <a:t>변동</a:t>
            </a:r>
            <a:r>
              <a:rPr dirty="0"/>
              <a:t> 폭(</a:t>
            </a:r>
            <a:r>
              <a:rPr dirty="0" err="1"/>
              <a:t>널뛰기</a:t>
            </a:r>
            <a:r>
              <a:rPr dirty="0"/>
              <a:t>)'도 </a:t>
            </a:r>
            <a:r>
              <a:rPr dirty="0" err="1"/>
              <a:t>커졌습니다</a:t>
            </a:r>
            <a:endParaRPr dirty="0"/>
          </a:p>
          <a:p>
            <a:pPr>
              <a:defRPr sz="120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코로나</a:t>
            </a:r>
            <a:r>
              <a:rPr dirty="0"/>
              <a:t> </a:t>
            </a:r>
            <a:r>
              <a:rPr dirty="0" err="1"/>
              <a:t>이후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전력</a:t>
            </a:r>
            <a:r>
              <a:rPr dirty="0"/>
              <a:t> </a:t>
            </a:r>
            <a:r>
              <a:rPr dirty="0" err="1"/>
              <a:t>수요가</a:t>
            </a:r>
            <a:r>
              <a:rPr dirty="0"/>
              <a:t> </a:t>
            </a:r>
            <a:r>
              <a:rPr dirty="0" err="1"/>
              <a:t>늘어났을</a:t>
            </a:r>
            <a:r>
              <a:rPr dirty="0"/>
              <a:t> </a:t>
            </a:r>
            <a:r>
              <a:rPr dirty="0" err="1"/>
              <a:t>뿐만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, </a:t>
            </a:r>
            <a:r>
              <a:rPr dirty="0" err="1"/>
              <a:t>일별</a:t>
            </a:r>
            <a:r>
              <a:rPr dirty="0"/>
              <a:t> </a:t>
            </a:r>
            <a:r>
              <a:rPr dirty="0" err="1"/>
              <a:t>사용량의</a:t>
            </a:r>
            <a:r>
              <a:rPr dirty="0"/>
              <a:t> </a:t>
            </a:r>
            <a:r>
              <a:rPr dirty="0" err="1"/>
              <a:t>차이</a:t>
            </a:r>
            <a:r>
              <a:rPr dirty="0"/>
              <a:t>(</a:t>
            </a:r>
            <a:r>
              <a:rPr dirty="0" err="1"/>
              <a:t>표준편차</a:t>
            </a:r>
            <a:r>
              <a:rPr dirty="0"/>
              <a:t>: 156.99 → 183.00 GWh)도 </a:t>
            </a:r>
            <a:r>
              <a:rPr dirty="0" err="1"/>
              <a:t>확대되었습니다</a:t>
            </a:r>
            <a:r>
              <a:rPr dirty="0"/>
              <a:t>.</a:t>
            </a:r>
          </a:p>
          <a:p>
            <a:pPr>
              <a:defRPr sz="1200">
                <a:solidFill>
                  <a:srgbClr val="334155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이는</a:t>
            </a:r>
            <a:r>
              <a:rPr dirty="0"/>
              <a:t> </a:t>
            </a:r>
            <a:r>
              <a:rPr dirty="0" err="1"/>
              <a:t>전력망</a:t>
            </a:r>
            <a:r>
              <a:rPr dirty="0"/>
              <a:t> </a:t>
            </a:r>
            <a:r>
              <a:rPr dirty="0" err="1"/>
              <a:t>관리에</a:t>
            </a:r>
            <a:r>
              <a:rPr dirty="0"/>
              <a:t> </a:t>
            </a:r>
            <a:r>
              <a:rPr dirty="0" err="1"/>
              <a:t>있어서</a:t>
            </a:r>
            <a:r>
              <a:rPr dirty="0"/>
              <a:t> </a:t>
            </a:r>
            <a:r>
              <a:rPr dirty="0" err="1"/>
              <a:t>피크</a:t>
            </a:r>
            <a:r>
              <a:rPr dirty="0"/>
              <a:t> </a:t>
            </a:r>
            <a:r>
              <a:rPr dirty="0" err="1"/>
              <a:t>관리와</a:t>
            </a:r>
            <a:r>
              <a:rPr dirty="0"/>
              <a:t> </a:t>
            </a:r>
            <a:r>
              <a:rPr dirty="0" err="1"/>
              <a:t>변동성</a:t>
            </a:r>
            <a:r>
              <a:rPr dirty="0"/>
              <a:t> </a:t>
            </a:r>
            <a:r>
              <a:rPr dirty="0" err="1"/>
              <a:t>대응이</a:t>
            </a:r>
            <a:r>
              <a:rPr dirty="0"/>
              <a:t> </a:t>
            </a:r>
            <a:r>
              <a:rPr dirty="0" err="1"/>
              <a:t>더욱</a:t>
            </a:r>
            <a:r>
              <a:rPr dirty="0"/>
              <a:t> </a:t>
            </a:r>
            <a:r>
              <a:rPr dirty="0" err="1"/>
              <a:t>중요해졌음을</a:t>
            </a:r>
            <a:r>
              <a:rPr dirty="0"/>
              <a:t> </a:t>
            </a:r>
            <a:r>
              <a:rPr dirty="0" err="1"/>
              <a:t>의미합니다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57200"/>
            <a:ext cx="2011680" cy="34747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STEP 4. AI 활용 및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AI 도구를 효율적으로 쓰고 4단계로 엄격히 검증했습니다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51460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F46E5"/>
                </a:solidFill>
                <a:latin typeface="Malgun Gothic"/>
              </a:defRPr>
            </a:pPr>
            <a:r>
              <a:t>1단계. 무결성 검증</a:t>
            </a:r>
          </a:p>
          <a:p>
            <a:pPr>
              <a:defRPr sz="1200">
                <a:solidFill>
                  <a:srgbClr val="334155"/>
                </a:solidFill>
                <a:latin typeface="Malgun Gothic"/>
              </a:defRPr>
            </a:pPr>
            <a:r>
              <a:t>날짜 범위 4,018일 연속성 확인</a:t>
            </a:r>
            <a:br/>
            <a:r>
              <a:t>결측치 0건, 중복치 0건 재검증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146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29000" y="1645920"/>
            <a:ext cx="25146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D9488"/>
                </a:solidFill>
                <a:latin typeface="Malgun Gothic"/>
              </a:defRPr>
            </a:pPr>
            <a:r>
              <a:t>2단계. 수치 재계산</a:t>
            </a:r>
          </a:p>
          <a:p>
            <a:pPr>
              <a:defRPr sz="1200">
                <a:solidFill>
                  <a:srgbClr val="334155"/>
                </a:solidFill>
                <a:latin typeface="Malgun Gothic"/>
              </a:defRPr>
            </a:pPr>
            <a:r>
              <a:t>시간별 → 일별 → 월별 → 연별</a:t>
            </a:r>
            <a:br/>
            <a:r>
              <a:t>집계 합계가 100% 일치하는지 계산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5146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251460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78308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  <a:latin typeface="Malgun Gothic"/>
              </a:defRPr>
            </a:pPr>
            <a:r>
              <a:t>3단계. 1:1 수치 대조</a:t>
            </a:r>
          </a:p>
          <a:p>
            <a:pPr>
              <a:defRPr sz="1200">
                <a:solidFill>
                  <a:srgbClr val="334155"/>
                </a:solidFill>
                <a:latin typeface="Malgun Gothic"/>
              </a:defRPr>
            </a:pPr>
            <a:r>
              <a:t>보고서 텍스트 수치와</a:t>
            </a:r>
            <a:br/>
            <a:r>
              <a:t>결과 표(CSV) 및 그래프 일치 대조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45920"/>
            <a:ext cx="25146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23960" y="1645920"/>
            <a:ext cx="2514600" cy="91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178308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11D48"/>
                </a:solidFill>
                <a:latin typeface="Malgun Gothic"/>
              </a:defRPr>
            </a:pPr>
            <a:r>
              <a:t>4단계. 대시보드 실행</a:t>
            </a:r>
          </a:p>
          <a:p>
            <a:pPr>
              <a:defRPr sz="1200">
                <a:solidFill>
                  <a:srgbClr val="334155"/>
                </a:solidFill>
                <a:latin typeface="Malgun Gothic"/>
              </a:defRPr>
            </a:pPr>
            <a:r>
              <a:t>Streamlit 대시보드 앱 실행 및</a:t>
            </a:r>
            <a:br/>
            <a:r>
              <a:t>메뉴별 필터 동작 상태 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106984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1069848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354242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4F46E5"/>
                </a:solidFill>
                <a:latin typeface="Malgun Gothic"/>
              </a:defRPr>
            </a:pPr>
            <a:r>
              <a:rPr dirty="0"/>
              <a:t>🤖 AI </a:t>
            </a:r>
            <a:r>
              <a:rPr dirty="0" err="1"/>
              <a:t>도구</a:t>
            </a:r>
            <a:r>
              <a:rPr dirty="0"/>
              <a:t> </a:t>
            </a:r>
            <a:r>
              <a:rPr dirty="0" err="1"/>
              <a:t>활용</a:t>
            </a:r>
            <a:r>
              <a:rPr dirty="0"/>
              <a:t> </a:t>
            </a:r>
            <a:r>
              <a:rPr dirty="0" err="1"/>
              <a:t>원칙</a:t>
            </a:r>
            <a:r>
              <a:rPr dirty="0"/>
              <a:t>: '</a:t>
            </a:r>
            <a:r>
              <a:rPr dirty="0" err="1"/>
              <a:t>생성은</a:t>
            </a:r>
            <a:r>
              <a:rPr dirty="0"/>
              <a:t> </a:t>
            </a:r>
            <a:r>
              <a:rPr dirty="0" err="1"/>
              <a:t>AI에게</a:t>
            </a:r>
            <a:r>
              <a:rPr dirty="0"/>
              <a:t>, </a:t>
            </a:r>
            <a:r>
              <a:rPr dirty="0" err="1"/>
              <a:t>검증은</a:t>
            </a:r>
            <a:r>
              <a:rPr dirty="0"/>
              <a:t> </a:t>
            </a:r>
            <a:r>
              <a:rPr dirty="0" err="1"/>
              <a:t>인간이</a:t>
            </a:r>
            <a:r>
              <a:rPr dirty="0"/>
              <a:t>!'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algun Gothic"/>
              </a:defRPr>
            </a:pPr>
            <a:r>
              <a:rPr dirty="0"/>
              <a:t>• AI </a:t>
            </a:r>
            <a:r>
              <a:rPr dirty="0" err="1"/>
              <a:t>활용</a:t>
            </a:r>
            <a:r>
              <a:rPr dirty="0"/>
              <a:t>: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정제</a:t>
            </a:r>
            <a:r>
              <a:rPr dirty="0"/>
              <a:t> </a:t>
            </a:r>
            <a:r>
              <a:rPr dirty="0" err="1"/>
              <a:t>코드</a:t>
            </a:r>
            <a:r>
              <a:rPr dirty="0"/>
              <a:t>, </a:t>
            </a:r>
            <a:r>
              <a:rPr dirty="0" err="1"/>
              <a:t>시각화</a:t>
            </a:r>
            <a:r>
              <a:rPr dirty="0"/>
              <a:t> </a:t>
            </a:r>
            <a:r>
              <a:rPr dirty="0" err="1"/>
              <a:t>그래프</a:t>
            </a:r>
            <a:r>
              <a:rPr dirty="0"/>
              <a:t>, </a:t>
            </a:r>
            <a:r>
              <a:rPr dirty="0" err="1"/>
              <a:t>Streamlit</a:t>
            </a:r>
            <a:r>
              <a:rPr dirty="0"/>
              <a:t> </a:t>
            </a:r>
            <a:r>
              <a:rPr dirty="0" err="1"/>
              <a:t>대시보드</a:t>
            </a:r>
            <a:r>
              <a:rPr dirty="0"/>
              <a:t> </a:t>
            </a:r>
            <a:r>
              <a:rPr dirty="0" err="1"/>
              <a:t>초안</a:t>
            </a:r>
            <a:r>
              <a:rPr dirty="0"/>
              <a:t> </a:t>
            </a:r>
            <a:r>
              <a:rPr dirty="0" err="1"/>
              <a:t>작성을</a:t>
            </a:r>
            <a:r>
              <a:rPr dirty="0"/>
              <a:t> </a:t>
            </a:r>
            <a:r>
              <a:rPr dirty="0" err="1"/>
              <a:t>보조하여</a:t>
            </a:r>
            <a:r>
              <a:rPr dirty="0"/>
              <a:t> </a:t>
            </a: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</a:t>
            </a:r>
            <a:r>
              <a:rPr dirty="0" err="1"/>
              <a:t>대폭</a:t>
            </a:r>
            <a:r>
              <a:rPr dirty="0"/>
              <a:t> </a:t>
            </a:r>
            <a:r>
              <a:rPr dirty="0" err="1"/>
              <a:t>단축</a:t>
            </a: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인간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: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만든</a:t>
            </a:r>
            <a:r>
              <a:rPr dirty="0"/>
              <a:t> </a:t>
            </a:r>
            <a:r>
              <a:rPr dirty="0" err="1"/>
              <a:t>코드나</a:t>
            </a:r>
            <a:r>
              <a:rPr dirty="0"/>
              <a:t> </a:t>
            </a:r>
            <a:r>
              <a:rPr dirty="0" err="1"/>
              <a:t>해석을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믿지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,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수치를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재계산하고</a:t>
            </a:r>
            <a:r>
              <a:rPr dirty="0"/>
              <a:t> </a:t>
            </a:r>
            <a:r>
              <a:rPr dirty="0" err="1"/>
              <a:t>대조하여</a:t>
            </a:r>
            <a:r>
              <a:rPr dirty="0"/>
              <a:t> </a:t>
            </a:r>
            <a:r>
              <a:rPr dirty="0" err="1"/>
              <a:t>과장된</a:t>
            </a:r>
            <a:r>
              <a:rPr dirty="0"/>
              <a:t> </a:t>
            </a:r>
            <a:r>
              <a:rPr dirty="0" err="1"/>
              <a:t>해석</a:t>
            </a:r>
            <a:r>
              <a:rPr dirty="0"/>
              <a:t> </a:t>
            </a:r>
            <a:r>
              <a:rPr dirty="0" err="1"/>
              <a:t>방지</a:t>
            </a: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Malgun Gothic"/>
              </a:defRPr>
            </a:pPr>
            <a:r>
              <a:rPr dirty="0"/>
              <a:t>• AI </a:t>
            </a:r>
            <a:r>
              <a:rPr dirty="0" err="1"/>
              <a:t>활용</a:t>
            </a:r>
            <a:r>
              <a:rPr dirty="0"/>
              <a:t> </a:t>
            </a:r>
            <a:r>
              <a:rPr dirty="0" err="1"/>
              <a:t>기록</a:t>
            </a:r>
            <a:r>
              <a:rPr dirty="0"/>
              <a:t>: AI_USAGE_LOG.md </a:t>
            </a:r>
            <a:r>
              <a:rPr dirty="0" err="1"/>
              <a:t>문서를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질문을</a:t>
            </a:r>
            <a:r>
              <a:rPr dirty="0"/>
              <a:t> </a:t>
            </a:r>
            <a:r>
              <a:rPr dirty="0" err="1"/>
              <a:t>던졌고</a:t>
            </a:r>
            <a:r>
              <a:rPr dirty="0"/>
              <a:t>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검증했는지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과정을</a:t>
            </a:r>
            <a:r>
              <a:rPr dirty="0"/>
              <a:t> </a:t>
            </a:r>
            <a:r>
              <a:rPr dirty="0" err="1"/>
              <a:t>투명하게</a:t>
            </a:r>
            <a:r>
              <a:rPr dirty="0"/>
              <a:t> </a:t>
            </a:r>
            <a:r>
              <a:rPr dirty="0" err="1"/>
              <a:t>기록함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57200"/>
            <a:ext cx="2105948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dirty="0"/>
              <a:t>STEP 5. </a:t>
            </a:r>
            <a:r>
              <a:rPr dirty="0" err="1"/>
              <a:t>한계점</a:t>
            </a:r>
            <a:r>
              <a:rPr dirty="0"/>
              <a:t> 및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결론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데이터 분석이 주는 진짜 가치: 한계를 알고 기준선을 세우는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91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399" y="1828800"/>
            <a:ext cx="4939645" cy="196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11D48"/>
                </a:solidFill>
                <a:latin typeface="Malgun Gothic"/>
              </a:defRPr>
            </a:pPr>
            <a:r>
              <a:rPr dirty="0"/>
              <a:t>⚠️ </a:t>
            </a:r>
            <a:r>
              <a:rPr dirty="0" err="1"/>
              <a:t>이번</a:t>
            </a:r>
            <a:r>
              <a:rPr dirty="0"/>
              <a:t> </a:t>
            </a:r>
            <a:r>
              <a:rPr dirty="0" err="1"/>
              <a:t>분석의</a:t>
            </a:r>
            <a:r>
              <a:rPr dirty="0"/>
              <a:t> </a:t>
            </a:r>
            <a:r>
              <a:rPr dirty="0" err="1"/>
              <a:t>한계점</a:t>
            </a:r>
            <a:r>
              <a:rPr dirty="0"/>
              <a:t> (Limitations)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Malgun Gothic"/>
              </a:defRPr>
            </a:pPr>
            <a:r>
              <a:rPr dirty="0"/>
              <a:t>1. External Variables </a:t>
            </a:r>
            <a:r>
              <a:rPr dirty="0" err="1"/>
              <a:t>미포함</a:t>
            </a:r>
            <a:br>
              <a:rPr dirty="0"/>
            </a:br>
            <a:r>
              <a:rPr dirty="0"/>
              <a:t>   </a:t>
            </a:r>
            <a:r>
              <a:rPr dirty="0" err="1"/>
              <a:t>기온</a:t>
            </a:r>
            <a:r>
              <a:rPr dirty="0"/>
              <a:t>, </a:t>
            </a:r>
            <a:r>
              <a:rPr dirty="0" err="1"/>
              <a:t>습도</a:t>
            </a:r>
            <a:r>
              <a:rPr dirty="0"/>
              <a:t>, </a:t>
            </a:r>
            <a:r>
              <a:rPr dirty="0" err="1"/>
              <a:t>공휴일</a:t>
            </a:r>
            <a:r>
              <a:rPr dirty="0"/>
              <a:t>, </a:t>
            </a:r>
            <a:r>
              <a:rPr dirty="0" err="1"/>
              <a:t>산업생산</a:t>
            </a:r>
            <a:r>
              <a:rPr dirty="0"/>
              <a:t> </a:t>
            </a:r>
            <a:r>
              <a:rPr dirty="0" err="1"/>
              <a:t>지수</a:t>
            </a:r>
            <a:r>
              <a:rPr dirty="0"/>
              <a:t> </a:t>
            </a:r>
            <a:r>
              <a:rPr dirty="0" err="1"/>
              <a:t>등이</a:t>
            </a:r>
            <a:r>
              <a:rPr dirty="0"/>
              <a:t> </a:t>
            </a:r>
            <a:r>
              <a:rPr dirty="0" err="1"/>
              <a:t>없어</a:t>
            </a:r>
            <a:r>
              <a:rPr dirty="0"/>
              <a:t> </a:t>
            </a:r>
            <a:r>
              <a:rPr dirty="0" err="1"/>
              <a:t>인과관계를</a:t>
            </a:r>
            <a:r>
              <a:rPr dirty="0"/>
              <a:t> </a:t>
            </a:r>
            <a:r>
              <a:rPr dirty="0" err="1"/>
              <a:t>단정할</a:t>
            </a:r>
            <a:r>
              <a:rPr lang="en-US" dirty="0"/>
              <a:t> </a:t>
            </a:r>
            <a:r>
              <a:rPr dirty="0"/>
              <a:t>수 </a:t>
            </a:r>
            <a:r>
              <a:rPr lang="en-US" dirty="0"/>
              <a:t> </a:t>
            </a:r>
            <a:r>
              <a:rPr dirty="0" err="1"/>
              <a:t>없음</a:t>
            </a:r>
            <a:endParaRPr dirty="0"/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Malgun Gothic"/>
              </a:defRPr>
            </a:pPr>
            <a:r>
              <a:rPr dirty="0"/>
              <a:t>2. </a:t>
            </a:r>
            <a:r>
              <a:rPr dirty="0" err="1"/>
              <a:t>전국</a:t>
            </a:r>
            <a:r>
              <a:rPr dirty="0"/>
              <a:t>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데이터의</a:t>
            </a:r>
            <a:r>
              <a:rPr dirty="0"/>
              <a:t> </a:t>
            </a:r>
            <a:r>
              <a:rPr dirty="0" err="1"/>
              <a:t>한계</a:t>
            </a:r>
            <a:br>
              <a:rPr dirty="0"/>
            </a:br>
            <a:r>
              <a:rPr dirty="0"/>
              <a:t>   </a:t>
            </a:r>
            <a:r>
              <a:rPr dirty="0" err="1"/>
              <a:t>지역별</a:t>
            </a:r>
            <a:r>
              <a:rPr dirty="0"/>
              <a:t>(</a:t>
            </a:r>
            <a:r>
              <a:rPr dirty="0" err="1"/>
              <a:t>서울</a:t>
            </a:r>
            <a:r>
              <a:rPr dirty="0"/>
              <a:t> vs </a:t>
            </a:r>
            <a:r>
              <a:rPr dirty="0" err="1"/>
              <a:t>지방</a:t>
            </a:r>
            <a:r>
              <a:rPr dirty="0"/>
              <a:t>) 및 </a:t>
            </a:r>
            <a:r>
              <a:rPr dirty="0" err="1"/>
              <a:t>용도별</a:t>
            </a:r>
            <a:r>
              <a:rPr dirty="0"/>
              <a:t>(</a:t>
            </a:r>
            <a:r>
              <a:rPr dirty="0" err="1"/>
              <a:t>가정</a:t>
            </a:r>
            <a:r>
              <a:rPr dirty="0"/>
              <a:t>/</a:t>
            </a:r>
            <a:r>
              <a:rPr dirty="0" err="1"/>
              <a:t>산업</a:t>
            </a:r>
            <a:r>
              <a:rPr dirty="0"/>
              <a:t>/</a:t>
            </a:r>
            <a:r>
              <a:rPr dirty="0" err="1"/>
              <a:t>상업용</a:t>
            </a:r>
            <a:r>
              <a:rPr dirty="0"/>
              <a:t>) </a:t>
            </a:r>
            <a:r>
              <a:rPr dirty="0" err="1"/>
              <a:t>차이</a:t>
            </a:r>
            <a:r>
              <a:rPr dirty="0"/>
              <a:t> </a:t>
            </a:r>
            <a:r>
              <a:rPr dirty="0" err="1"/>
              <a:t>파악</a:t>
            </a:r>
            <a:r>
              <a:rPr dirty="0"/>
              <a:t> </a:t>
            </a:r>
            <a:r>
              <a:rPr dirty="0" err="1"/>
              <a:t>불가</a:t>
            </a:r>
            <a:endParaRPr dirty="0"/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Malgun Gothic"/>
              </a:defRPr>
            </a:pPr>
            <a:r>
              <a:rPr dirty="0"/>
              <a:t>3. </a:t>
            </a:r>
            <a:r>
              <a:rPr dirty="0" err="1"/>
              <a:t>기술통계</a:t>
            </a:r>
            <a:r>
              <a:rPr dirty="0"/>
              <a:t> </a:t>
            </a:r>
            <a:r>
              <a:rPr dirty="0" err="1"/>
              <a:t>위주의</a:t>
            </a:r>
            <a:r>
              <a:rPr dirty="0"/>
              <a:t> </a:t>
            </a:r>
            <a:r>
              <a:rPr dirty="0" err="1"/>
              <a:t>비교</a:t>
            </a:r>
            <a:br>
              <a:rPr dirty="0"/>
            </a:br>
            <a:r>
              <a:rPr dirty="0"/>
              <a:t>   </a:t>
            </a:r>
            <a:r>
              <a:rPr dirty="0" err="1"/>
              <a:t>코로나</a:t>
            </a:r>
            <a:r>
              <a:rPr dirty="0"/>
              <a:t> </a:t>
            </a:r>
            <a:r>
              <a:rPr dirty="0" err="1"/>
              <a:t>전후</a:t>
            </a:r>
            <a:r>
              <a:rPr dirty="0"/>
              <a:t> </a:t>
            </a:r>
            <a:r>
              <a:rPr dirty="0" err="1"/>
              <a:t>차이는</a:t>
            </a:r>
            <a:r>
              <a:rPr dirty="0"/>
              <a:t> </a:t>
            </a:r>
            <a:r>
              <a:rPr dirty="0" err="1"/>
              <a:t>구체적</a:t>
            </a:r>
            <a:r>
              <a:rPr dirty="0"/>
              <a:t> </a:t>
            </a:r>
            <a:r>
              <a:rPr dirty="0" err="1"/>
              <a:t>인과</a:t>
            </a:r>
            <a:r>
              <a:rPr dirty="0"/>
              <a:t> </a:t>
            </a:r>
            <a:r>
              <a:rPr dirty="0" err="1"/>
              <a:t>증명이</a:t>
            </a:r>
            <a:r>
              <a:rPr dirty="0"/>
              <a:t> </a:t>
            </a:r>
            <a:r>
              <a:rPr dirty="0" err="1"/>
              <a:t>아닌</a:t>
            </a:r>
            <a:r>
              <a:rPr dirty="0"/>
              <a:t> </a:t>
            </a:r>
            <a:r>
              <a:rPr dirty="0" err="1"/>
              <a:t>패턴</a:t>
            </a:r>
            <a:r>
              <a:rPr dirty="0"/>
              <a:t> </a:t>
            </a:r>
            <a:r>
              <a:rPr dirty="0" err="1"/>
              <a:t>비교임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D9488"/>
                </a:solidFill>
                <a:latin typeface="Malgun Gothic"/>
              </a:defRPr>
            </a:pPr>
            <a:r>
              <a:t>🎯 초보자를 위한 최종 결론 (Conclusion)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Malgun Gothic"/>
              </a:defRPr>
            </a:pPr>
            <a:r>
              <a:t>1. 데이터 기반 사고력 확보</a:t>
            </a:r>
            <a:br/>
            <a:r>
              <a:t>   숫자와 그래프를 나열하는 대신, 질문을 던지고 Fact/Hypothesis를 구분함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Malgun Gothic"/>
              </a:defRPr>
            </a:pPr>
            <a:r>
              <a:t>2. 탄탄한 기준선(Baseline) 수립</a:t>
            </a:r>
            <a:br/>
            <a:r>
              <a:t>   11년간 4,018일 전력 소비의 장기 흐름과 계절적 패턴을 명확히 자산화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Malgun Gothic"/>
              </a:defRPr>
            </a:pPr>
            <a:r>
              <a:t>3. 확장 가능성 확보</a:t>
            </a:r>
            <a:br/>
            <a:r>
              <a:t>   향후 날씨, 공휴일, 경제 지표 결합 시 즉시 검증 가능한 데이터 토대 마련!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1492</Words>
  <Application>Microsoft Office PowerPoint</Application>
  <PresentationFormat>와이드스크린</PresentationFormat>
  <Paragraphs>154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bomi.grace@gmail.com</cp:lastModifiedBy>
  <cp:revision>2</cp:revision>
  <dcterms:created xsi:type="dcterms:W3CDTF">2013-01-27T09:14:16Z</dcterms:created>
  <dcterms:modified xsi:type="dcterms:W3CDTF">2026-09-29T10:40:54Z</dcterms:modified>
  <cp:category/>
</cp:coreProperties>
</file>